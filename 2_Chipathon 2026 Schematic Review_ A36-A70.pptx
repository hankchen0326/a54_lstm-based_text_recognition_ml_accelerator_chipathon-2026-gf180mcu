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comment1.xml" ContentType="application/vnd.openxmlformats-officedocument.presentationml.comments+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03" r:id="rId1"/>
  </p:sldMasterIdLst>
  <p:notesMasterIdLst>
    <p:notesMasterId r:id="rId12"/>
  </p:notesMasterIdLst>
  <p:sldIdLst>
    <p:sldId id="295" r:id="rId2"/>
    <p:sldId id="306" r:id="rId3"/>
    <p:sldId id="302" r:id="rId4"/>
    <p:sldId id="296" r:id="rId5"/>
    <p:sldId id="297" r:id="rId6"/>
    <p:sldId id="299" r:id="rId7"/>
    <p:sldId id="298" r:id="rId8"/>
    <p:sldId id="301" r:id="rId9"/>
    <p:sldId id="303" r:id="rId10"/>
    <p:sldId id="304" r:id="rId1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67">
          <p15:clr>
            <a:srgbClr val="747775"/>
          </p15:clr>
        </p15:guide>
        <p15:guide id="2" orient="horz" pos="432">
          <p15:clr>
            <a:srgbClr val="747775"/>
          </p15:clr>
        </p15:guide>
        <p15:guide id="3" orient="horz" pos="397">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Qinyan Zeng" initials="QZ" lastIdx="1" clrIdx="0">
    <p:extLst>
      <p:ext uri="{19B8F6BF-5375-455C-9EA6-DF929625EA0E}">
        <p15:presenceInfo xmlns:p15="http://schemas.microsoft.com/office/powerpoint/2012/main" userId="3bf4d0e27b0d841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F8FD5D2-E72E-459C-8272-A8D23B92CC7B}">
  <a:tblStyle styleId="{DF8FD5D2-E72E-459C-8272-A8D23B92CC7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E9ADDB-3E52-4110-924A-337BC88D7030}" styleName="Table_1">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359C2BB5-467A-4057-AD62-3257F5A64693}" styleName="Table_2">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9114C6F0-16DE-4D30-8535-C5D0C37F7481}" styleName="Table_3">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649" autoAdjust="0"/>
  </p:normalViewPr>
  <p:slideViewPr>
    <p:cSldViewPr snapToGrid="0">
      <p:cViewPr>
        <p:scale>
          <a:sx n="100" d="100"/>
          <a:sy n="100" d="100"/>
        </p:scale>
        <p:origin x="303" y="-372"/>
      </p:cViewPr>
      <p:guideLst>
        <p:guide orient="horz" pos="467"/>
        <p:guide orient="horz" pos="432"/>
        <p:guide orient="horz" pos="397"/>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6-29T19:24:55.535" idx="1">
    <p:pos x="5823" y="2144"/>
    <p:text/>
    <p:extLst>
      <p:ext uri="{C676402C-5697-4E1C-873F-D02D1690AC5C}">
        <p15:threadingInfo xmlns:p15="http://schemas.microsoft.com/office/powerpoint/2012/main" timeZoneBias="42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3f1d658e184_9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3f1d658e184_9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zh-CN" altLang="zh-CN" dirty="0"/>
              <a:t>Good day everyone.</a:t>
            </a:r>
            <a:r>
              <a:rPr lang="en-US" altLang="zh-CN" dirty="0"/>
              <a:t> We are Group A54 </a:t>
            </a:r>
            <a:r>
              <a:rPr lang="en-US" altLang="zh-CN" dirty="0" err="1"/>
              <a:t>Waibibabu</a:t>
            </a:r>
            <a:r>
              <a:rPr lang="en-US" altLang="zh-CN" dirty="0"/>
              <a:t>.</a:t>
            </a:r>
            <a:r>
              <a:rPr lang="zh-CN" altLang="zh-CN" dirty="0"/>
              <a:t> This project is a compact GF180 digital accelerator prototype for quantized LSTM inference. </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a:extLst>
            <a:ext uri="{FF2B5EF4-FFF2-40B4-BE49-F238E27FC236}">
              <a16:creationId xmlns:a16="http://schemas.microsoft.com/office/drawing/2014/main" id="{6F6E3060-76B3-1C80-65F3-EFE3CEA262AA}"/>
            </a:ext>
          </a:extLst>
        </p:cNvPr>
        <p:cNvGrpSpPr/>
        <p:nvPr/>
      </p:nvGrpSpPr>
      <p:grpSpPr>
        <a:xfrm>
          <a:off x="0" y="0"/>
          <a:ext cx="0" cy="0"/>
          <a:chOff x="0" y="0"/>
          <a:chExt cx="0" cy="0"/>
        </a:xfrm>
      </p:grpSpPr>
      <p:sp>
        <p:nvSpPr>
          <p:cNvPr id="387" name="Google Shape;387;g3f1d658e184_9_0:notes">
            <a:extLst>
              <a:ext uri="{FF2B5EF4-FFF2-40B4-BE49-F238E27FC236}">
                <a16:creationId xmlns:a16="http://schemas.microsoft.com/office/drawing/2014/main" id="{1061043D-7101-C1CA-645A-A6ADE78F9E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3f1d658e184_9_0:notes">
            <a:extLst>
              <a:ext uri="{FF2B5EF4-FFF2-40B4-BE49-F238E27FC236}">
                <a16:creationId xmlns:a16="http://schemas.microsoft.com/office/drawing/2014/main" id="{8ECCE91D-2A01-DBDB-1B9D-C6D6BB9C47B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zh-CN" dirty="0"/>
              <a:t>The main goal is not to store a full neural-network model on chip, but to verify a small LSTM datapath under the Block A area constraint. </a:t>
            </a:r>
            <a:endParaRPr lang="en-US" altLang="zh-CN" dirty="0"/>
          </a:p>
          <a:p>
            <a:pPr marL="0" lvl="0" indent="0" algn="l" rtl="0">
              <a:spcBef>
                <a:spcPts val="0"/>
              </a:spcBef>
              <a:spcAft>
                <a:spcPts val="0"/>
              </a:spcAft>
              <a:buNone/>
            </a:pPr>
            <a:endParaRPr lang="en-US" altLang="zh-CN" dirty="0"/>
          </a:p>
          <a:p>
            <a:pPr marL="0" lvl="0" indent="0" algn="l" rtl="0">
              <a:spcBef>
                <a:spcPts val="0"/>
              </a:spcBef>
              <a:spcAft>
                <a:spcPts val="0"/>
              </a:spcAft>
              <a:buNone/>
            </a:pPr>
            <a:r>
              <a:rPr lang="zh-CN" altLang="zh-CN" dirty="0"/>
              <a:t>The design uses INT8, Q1.7 fixed-point data, a small SRAM buffer, and a reused MAC datapath to save area. The final hidden and cell-state outputs are written back to SRAM instead of being directly exposed as output pins.</a:t>
            </a:r>
            <a:endParaRPr dirty="0"/>
          </a:p>
        </p:txBody>
      </p:sp>
    </p:spTree>
    <p:extLst>
      <p:ext uri="{BB962C8B-B14F-4D97-AF65-F5344CB8AC3E}">
        <p14:creationId xmlns:p14="http://schemas.microsoft.com/office/powerpoint/2010/main" val="29221913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a:extLst>
            <a:ext uri="{FF2B5EF4-FFF2-40B4-BE49-F238E27FC236}">
              <a16:creationId xmlns:a16="http://schemas.microsoft.com/office/drawing/2014/main" id="{99C3C7C6-BB9A-A5BE-B47E-2A4BCF23FC89}"/>
            </a:ext>
          </a:extLst>
        </p:cNvPr>
        <p:cNvGrpSpPr/>
        <p:nvPr/>
      </p:nvGrpSpPr>
      <p:grpSpPr>
        <a:xfrm>
          <a:off x="0" y="0"/>
          <a:ext cx="0" cy="0"/>
          <a:chOff x="0" y="0"/>
          <a:chExt cx="0" cy="0"/>
        </a:xfrm>
      </p:grpSpPr>
      <p:sp>
        <p:nvSpPr>
          <p:cNvPr id="387" name="Google Shape;387;g3f1d658e184_9_0:notes">
            <a:extLst>
              <a:ext uri="{FF2B5EF4-FFF2-40B4-BE49-F238E27FC236}">
                <a16:creationId xmlns:a16="http://schemas.microsoft.com/office/drawing/2014/main" id="{18F94CA7-FC2C-7276-DCC1-21043E03DFD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3f1d658e184_9_0:notes">
            <a:extLst>
              <a:ext uri="{FF2B5EF4-FFF2-40B4-BE49-F238E27FC236}">
                <a16:creationId xmlns:a16="http://schemas.microsoft.com/office/drawing/2014/main" id="{F1CA795A-EAE4-87DF-7CEC-525AEE1B270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zh-CN" dirty="0"/>
              <a:t>This slide shows the planned top-level interface. The host first loads data into SRAM through the host interface. </a:t>
            </a:r>
            <a:endParaRPr lang="en-US" altLang="zh-CN" dirty="0"/>
          </a:p>
          <a:p>
            <a:pPr marL="0" lvl="0" indent="0" algn="l" rtl="0">
              <a:spcBef>
                <a:spcPts val="0"/>
              </a:spcBef>
              <a:spcAft>
                <a:spcPts val="0"/>
              </a:spcAft>
              <a:buNone/>
            </a:pPr>
            <a:endParaRPr lang="en-US" altLang="zh-CN" dirty="0"/>
          </a:p>
          <a:p>
            <a:pPr marL="0" lvl="0" indent="0" algn="l" rtl="0">
              <a:spcBef>
                <a:spcPts val="0"/>
              </a:spcBef>
              <a:spcAft>
                <a:spcPts val="0"/>
              </a:spcAft>
              <a:buNone/>
            </a:pPr>
            <a:r>
              <a:rPr lang="zh-CN" altLang="zh-CN" dirty="0"/>
              <a:t>After that, start triggers the LSTM computation. </a:t>
            </a:r>
            <a:endParaRPr lang="en-US" altLang="zh-CN" dirty="0"/>
          </a:p>
          <a:p>
            <a:pPr marL="0" lvl="0" indent="0" algn="l" rtl="0">
              <a:spcBef>
                <a:spcPts val="0"/>
              </a:spcBef>
              <a:spcAft>
                <a:spcPts val="0"/>
              </a:spcAft>
              <a:buNone/>
            </a:pPr>
            <a:endParaRPr lang="en-US" altLang="zh-CN" dirty="0"/>
          </a:p>
          <a:p>
            <a:pPr marL="0" lvl="0" indent="0" algn="l" rtl="0">
              <a:spcBef>
                <a:spcPts val="0"/>
              </a:spcBef>
              <a:spcAft>
                <a:spcPts val="0"/>
              </a:spcAft>
              <a:buNone/>
            </a:pPr>
            <a:r>
              <a:rPr lang="zh-CN" altLang="zh-CN" dirty="0"/>
              <a:t>The busy signal indicates that the core is using SRAM, and done indicates the computation has finished. Because of the pin limit, the plan is to use an 8-bit bidirectional host data bus for both SRAM write and read access.</a:t>
            </a:r>
            <a:endParaRPr dirty="0"/>
          </a:p>
        </p:txBody>
      </p:sp>
    </p:spTree>
    <p:extLst>
      <p:ext uri="{BB962C8B-B14F-4D97-AF65-F5344CB8AC3E}">
        <p14:creationId xmlns:p14="http://schemas.microsoft.com/office/powerpoint/2010/main" val="40651353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3f1d658e184_9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0" name="Google Shape;400;g3f1d658e184_9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zh-CN" dirty="0"/>
              <a:t>The design uses quantized INT8 data for inputs, weights, gate values, and states. </a:t>
            </a:r>
            <a:endParaRPr lang="en-US" altLang="zh-CN" dirty="0"/>
          </a:p>
          <a:p>
            <a:pPr marL="0" lvl="0" indent="0" algn="l" rtl="0">
              <a:spcBef>
                <a:spcPts val="0"/>
              </a:spcBef>
              <a:spcAft>
                <a:spcPts val="0"/>
              </a:spcAft>
              <a:buNone/>
            </a:pPr>
            <a:r>
              <a:rPr lang="zh-CN" altLang="zh-CN" dirty="0"/>
              <a:t>One LSTM state is processed sequentially, rather than computing all gates in parallel. </a:t>
            </a:r>
            <a:endParaRPr lang="en-US" altLang="zh-CN" dirty="0"/>
          </a:p>
          <a:p>
            <a:pPr marL="0" lvl="0" indent="0" algn="l" rtl="0">
              <a:spcBef>
                <a:spcPts val="0"/>
              </a:spcBef>
              <a:spcAft>
                <a:spcPts val="0"/>
              </a:spcAft>
              <a:buNone/>
            </a:pPr>
            <a:r>
              <a:rPr lang="zh-CN" altLang="zh-CN" dirty="0"/>
              <a:t>Weights and inputs are stored in the SRAM address map before computation starts. </a:t>
            </a:r>
            <a:endParaRPr lang="en-US" altLang="zh-CN" dirty="0"/>
          </a:p>
          <a:p>
            <a:pPr marL="0" lvl="0" indent="0" algn="l" rtl="0">
              <a:spcBef>
                <a:spcPts val="0"/>
              </a:spcBef>
              <a:spcAft>
                <a:spcPts val="0"/>
              </a:spcAft>
              <a:buNone/>
            </a:pPr>
            <a:r>
              <a:rPr lang="zh-CN" altLang="zh-CN" dirty="0"/>
              <a:t>For activation, act_lut is used after the MAC accumulation: sigmoid is used for f, i, and o gates, and tanh is used for the candidate g gate. </a:t>
            </a:r>
            <a:endParaRPr lang="en-US" altLang="zh-CN" dirty="0"/>
          </a:p>
          <a:p>
            <a:pPr marL="0" lvl="0" indent="0" algn="l" rtl="0">
              <a:spcBef>
                <a:spcPts val="0"/>
              </a:spcBef>
              <a:spcAft>
                <a:spcPts val="0"/>
              </a:spcAft>
              <a:buNone/>
            </a:pPr>
            <a:r>
              <a:rPr lang="zh-CN" altLang="zh-CN" dirty="0"/>
              <a:t>A separate tanh8 block is used after c_next is computed, because h_next needs o multiplied by tanh of the updated cell state. </a:t>
            </a:r>
            <a:endParaRPr lang="en-US" altLang="zh-CN" dirty="0"/>
          </a:p>
          <a:p>
            <a:pPr marL="0" lvl="0" indent="0" algn="l" rtl="0">
              <a:spcBef>
                <a:spcPts val="0"/>
              </a:spcBef>
              <a:spcAft>
                <a:spcPts val="0"/>
              </a:spcAft>
              <a:buNone/>
            </a:pPr>
            <a:r>
              <a:rPr lang="zh-CN" altLang="zh-CN" dirty="0"/>
              <a:t>So these two LUTs are separated because their inputs come from different computation stages.</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g3f1d658e184_9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 name="Google Shape;407;g3f1d658e184_9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zh-CN" dirty="0"/>
              <a:t>The schematic is organized around lstm_top, lstm_core, sram_wrap, and a few small datapath blocks. </a:t>
            </a:r>
            <a:endParaRPr lang="en-US" altLang="zh-CN" dirty="0"/>
          </a:p>
          <a:p>
            <a:pPr marL="0" lvl="0" indent="0" algn="l" rtl="0">
              <a:spcBef>
                <a:spcPts val="0"/>
              </a:spcBef>
              <a:spcAft>
                <a:spcPts val="0"/>
              </a:spcAft>
              <a:buNone/>
            </a:pPr>
            <a:r>
              <a:rPr lang="zh-CN" altLang="zh-CN" dirty="0"/>
              <a:t>lstm_top connects the host interface, the core, and SRAM. </a:t>
            </a:r>
            <a:endParaRPr lang="en-US" altLang="zh-CN" dirty="0"/>
          </a:p>
          <a:p>
            <a:pPr marL="0" lvl="0" indent="0" algn="l" rtl="0">
              <a:spcBef>
                <a:spcPts val="0"/>
              </a:spcBef>
              <a:spcAft>
                <a:spcPts val="0"/>
              </a:spcAft>
              <a:buNone/>
            </a:pPr>
            <a:r>
              <a:rPr lang="zh-CN" altLang="zh-CN" dirty="0"/>
              <a:t>lstm_core is the main FSM, which reads data from SRAM, computes the four gates sequentially, updates the states, and writes results back. </a:t>
            </a:r>
            <a:endParaRPr lang="en-US" altLang="zh-CN" dirty="0"/>
          </a:p>
          <a:p>
            <a:pPr marL="0" lvl="0" indent="0" algn="l" rtl="0">
              <a:spcBef>
                <a:spcPts val="0"/>
              </a:spcBef>
              <a:spcAft>
                <a:spcPts val="0"/>
              </a:spcAft>
              <a:buNone/>
            </a:pPr>
            <a:r>
              <a:rPr lang="zh-CN" altLang="zh-CN" dirty="0"/>
              <a:t>sram_wrap adapts the simple RTL SRAM signals to the GF180 SRAM macro interface. </a:t>
            </a:r>
            <a:endParaRPr lang="en-US" altLang="zh-CN" dirty="0"/>
          </a:p>
          <a:p>
            <a:pPr marL="0" lvl="0" indent="0" algn="l" rtl="0">
              <a:spcBef>
                <a:spcPts val="0"/>
              </a:spcBef>
              <a:spcAft>
                <a:spcPts val="0"/>
              </a:spcAft>
              <a:buNone/>
            </a:pPr>
            <a:r>
              <a:rPr lang="zh-CN" altLang="zh-CN" dirty="0"/>
              <a:t>The multiplier, gate registers, and LUTs are reused to keep the design compact.</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a:extLst>
            <a:ext uri="{FF2B5EF4-FFF2-40B4-BE49-F238E27FC236}">
              <a16:creationId xmlns:a16="http://schemas.microsoft.com/office/drawing/2014/main" id="{D720AE65-9082-7007-B263-07E4E19ED08F}"/>
            </a:ext>
          </a:extLst>
        </p:cNvPr>
        <p:cNvGrpSpPr/>
        <p:nvPr/>
      </p:nvGrpSpPr>
      <p:grpSpPr>
        <a:xfrm>
          <a:off x="0" y="0"/>
          <a:ext cx="0" cy="0"/>
          <a:chOff x="0" y="0"/>
          <a:chExt cx="0" cy="0"/>
        </a:xfrm>
      </p:grpSpPr>
      <p:sp>
        <p:nvSpPr>
          <p:cNvPr id="406" name="Google Shape;406;g3f1d658e184_9_11:notes">
            <a:extLst>
              <a:ext uri="{FF2B5EF4-FFF2-40B4-BE49-F238E27FC236}">
                <a16:creationId xmlns:a16="http://schemas.microsoft.com/office/drawing/2014/main" id="{2341173E-7836-A4CF-013B-188756AA74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 name="Google Shape;407;g3f1d658e184_9_11:notes">
            <a:extLst>
              <a:ext uri="{FF2B5EF4-FFF2-40B4-BE49-F238E27FC236}">
                <a16:creationId xmlns:a16="http://schemas.microsoft.com/office/drawing/2014/main" id="{5E3A6899-7C41-1D7D-3EA7-1AC0FC54D04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zh-CN" dirty="0"/>
              <a:t>The key idea is SRAM ownership control. When busy is low, the host owns SRAM and can load inputs, weights, and biases or read back results. </a:t>
            </a:r>
            <a:endParaRPr lang="en-US" altLang="zh-CN" dirty="0"/>
          </a:p>
          <a:p>
            <a:pPr marL="0" lvl="0" indent="0" algn="l" rtl="0">
              <a:spcBef>
                <a:spcPts val="0"/>
              </a:spcBef>
              <a:spcAft>
                <a:spcPts val="0"/>
              </a:spcAft>
              <a:buNone/>
            </a:pPr>
            <a:r>
              <a:rPr lang="zh-CN" altLang="zh-CN" dirty="0"/>
              <a:t>When busy is high, the LSTM core owns SRAM. </a:t>
            </a:r>
            <a:endParaRPr lang="en-US" altLang="zh-CN" dirty="0"/>
          </a:p>
          <a:p>
            <a:pPr marL="0" lvl="0" indent="0" algn="l" rtl="0">
              <a:spcBef>
                <a:spcPts val="0"/>
              </a:spcBef>
              <a:spcAft>
                <a:spcPts val="0"/>
              </a:spcAft>
              <a:buNone/>
            </a:pPr>
            <a:r>
              <a:rPr lang="zh-CN" altLang="zh-CN" dirty="0"/>
              <a:t>The core first reads the previous hidden and cell states, then reads the input vector. </a:t>
            </a:r>
            <a:endParaRPr lang="en-US" altLang="zh-CN" dirty="0"/>
          </a:p>
          <a:p>
            <a:pPr marL="0" lvl="0" indent="0" algn="l" rtl="0">
              <a:spcBef>
                <a:spcPts val="0"/>
              </a:spcBef>
              <a:spcAft>
                <a:spcPts val="0"/>
              </a:spcAft>
              <a:buNone/>
            </a:pPr>
            <a:r>
              <a:rPr lang="zh-CN" altLang="zh-CN" dirty="0"/>
              <a:t>For each gate, it reads the bias and weights, reuses one signed 8-bit multiplier for MAC accumulation, applies activation, and stores the gate result. </a:t>
            </a:r>
            <a:endParaRPr lang="en-US" altLang="zh-CN" dirty="0"/>
          </a:p>
          <a:p>
            <a:pPr marL="0" lvl="0" indent="0" algn="l" rtl="0">
              <a:spcBef>
                <a:spcPts val="0"/>
              </a:spcBef>
              <a:spcAft>
                <a:spcPts val="0"/>
              </a:spcAft>
              <a:buNone/>
            </a:pPr>
            <a:r>
              <a:rPr lang="zh-CN" altLang="zh-CN" dirty="0"/>
              <a:t>After all four gates are computed, it updates c_next and h_next and writes them back to SRAM.</a:t>
            </a:r>
            <a:endParaRPr dirty="0"/>
          </a:p>
        </p:txBody>
      </p:sp>
    </p:spTree>
    <p:extLst>
      <p:ext uri="{BB962C8B-B14F-4D97-AF65-F5344CB8AC3E}">
        <p14:creationId xmlns:p14="http://schemas.microsoft.com/office/powerpoint/2010/main" val="41707953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g3f1d658e184_9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3" name="Google Shape;413;g3f1d658e184_9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zh-CN" dirty="0"/>
              <a:t>For verification, the system architecture and design specifications are mostly completed, while RTL design and RTL verification are still in progress. </a:t>
            </a:r>
            <a:endParaRPr lang="en-US" altLang="zh-CN" dirty="0"/>
          </a:p>
          <a:p>
            <a:pPr marL="0" lvl="0" indent="0" algn="l" rtl="0">
              <a:spcBef>
                <a:spcPts val="0"/>
              </a:spcBef>
              <a:spcAft>
                <a:spcPts val="0"/>
              </a:spcAft>
              <a:buNone/>
            </a:pPr>
            <a:endParaRPr lang="en-US" altLang="zh-CN" dirty="0"/>
          </a:p>
          <a:p>
            <a:pPr marL="0" lvl="0" indent="0" algn="l" rtl="0">
              <a:spcBef>
                <a:spcPts val="0"/>
              </a:spcBef>
              <a:spcAft>
                <a:spcPts val="0"/>
              </a:spcAft>
              <a:buNone/>
            </a:pPr>
            <a:r>
              <a:rPr lang="zh-CN" altLang="zh-CN" dirty="0"/>
              <a:t>The current testbench acts as the external host. It initializes the 128-byte SRAM image, asserts start, waits for done, and then compares hardware results with Python-generated golden references. </a:t>
            </a:r>
            <a:endParaRPr lang="en-US" altLang="zh-CN" dirty="0"/>
          </a:p>
          <a:p>
            <a:pPr marL="0" lvl="0" indent="0" algn="l" rtl="0">
              <a:spcBef>
                <a:spcPts val="0"/>
              </a:spcBef>
              <a:spcAft>
                <a:spcPts val="0"/>
              </a:spcAft>
              <a:buNone/>
            </a:pPr>
            <a:endParaRPr lang="en-US" altLang="zh-CN" dirty="0"/>
          </a:p>
          <a:p>
            <a:pPr marL="0" lvl="0" indent="0" algn="l" rtl="0">
              <a:spcBef>
                <a:spcPts val="0"/>
              </a:spcBef>
              <a:spcAft>
                <a:spcPts val="0"/>
              </a:spcAft>
              <a:buNone/>
            </a:pPr>
            <a:r>
              <a:rPr lang="en-US" altLang="zh-CN" dirty="0"/>
              <a:t>(</a:t>
            </a:r>
            <a:r>
              <a:rPr lang="zh-CN" altLang="zh-CN" dirty="0"/>
              <a:t>The reference traces include MAC accumulator values, gate outputs, cell-state results, and hidden-state results.</a:t>
            </a:r>
            <a:r>
              <a:rPr lang="en-US" altLang="zh-CN" dirty="0"/>
              <a:t>)</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a:extLst>
            <a:ext uri="{FF2B5EF4-FFF2-40B4-BE49-F238E27FC236}">
              <a16:creationId xmlns:a16="http://schemas.microsoft.com/office/drawing/2014/main" id="{E7039DA9-E7E3-132E-19E0-3BA5DB322475}"/>
            </a:ext>
          </a:extLst>
        </p:cNvPr>
        <p:cNvGrpSpPr/>
        <p:nvPr/>
      </p:nvGrpSpPr>
      <p:grpSpPr>
        <a:xfrm>
          <a:off x="0" y="0"/>
          <a:ext cx="0" cy="0"/>
          <a:chOff x="0" y="0"/>
          <a:chExt cx="0" cy="0"/>
        </a:xfrm>
      </p:grpSpPr>
      <p:sp>
        <p:nvSpPr>
          <p:cNvPr id="412" name="Google Shape;412;g3f1d658e184_9_16:notes">
            <a:extLst>
              <a:ext uri="{FF2B5EF4-FFF2-40B4-BE49-F238E27FC236}">
                <a16:creationId xmlns:a16="http://schemas.microsoft.com/office/drawing/2014/main" id="{3D210EB0-D217-BAD0-16F9-ECC560B214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3" name="Google Shape;413;g3f1d658e184_9_16:notes">
            <a:extLst>
              <a:ext uri="{FF2B5EF4-FFF2-40B4-BE49-F238E27FC236}">
                <a16:creationId xmlns:a16="http://schemas.microsoft.com/office/drawing/2014/main" id="{6B56D780-C62E-AE99-D06D-02AA68F998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zh-CN" dirty="0"/>
              <a:t>There are four main open issues. First, GF180 SRAM macro integration in the RTL-to-GDS flow still needs to be confirmed. </a:t>
            </a:r>
            <a:endParaRPr lang="en-US" altLang="zh-CN" dirty="0"/>
          </a:p>
          <a:p>
            <a:pPr marL="0" lvl="0" indent="0" algn="l" rtl="0">
              <a:spcBef>
                <a:spcPts val="0"/>
              </a:spcBef>
              <a:spcAft>
                <a:spcPts val="0"/>
              </a:spcAft>
              <a:buNone/>
            </a:pPr>
            <a:endParaRPr lang="en-US" altLang="zh-CN" dirty="0"/>
          </a:p>
          <a:p>
            <a:pPr marL="0" lvl="0" indent="0" algn="l" rtl="0">
              <a:spcBef>
                <a:spcPts val="0"/>
              </a:spcBef>
              <a:spcAft>
                <a:spcPts val="0"/>
              </a:spcAft>
              <a:buNone/>
            </a:pPr>
            <a:r>
              <a:rPr lang="zh-CN" altLang="zh-CN" dirty="0"/>
              <a:t>Second, the final area is not fixed until synthesis and placement are completed. </a:t>
            </a:r>
            <a:endParaRPr lang="en-US" altLang="zh-CN" dirty="0"/>
          </a:p>
          <a:p>
            <a:pPr marL="0" lvl="0" indent="0" algn="l" rtl="0">
              <a:spcBef>
                <a:spcPts val="0"/>
              </a:spcBef>
              <a:spcAft>
                <a:spcPts val="0"/>
              </a:spcAft>
              <a:buNone/>
            </a:pPr>
            <a:endParaRPr lang="en-US" altLang="zh-CN" dirty="0"/>
          </a:p>
          <a:p>
            <a:pPr marL="0" lvl="0" indent="0" algn="l" rtl="0">
              <a:spcBef>
                <a:spcPts val="0"/>
              </a:spcBef>
              <a:spcAft>
                <a:spcPts val="0"/>
              </a:spcAft>
              <a:buNone/>
            </a:pPr>
            <a:r>
              <a:rPr lang="zh-CN" altLang="zh-CN" dirty="0"/>
              <a:t>Third, the 32-entry activation LUT is approximate, and simulation shows that many values are concentrated around the middle LUT entries. </a:t>
            </a:r>
            <a:endParaRPr lang="en-US" altLang="zh-CN" dirty="0"/>
          </a:p>
          <a:p>
            <a:pPr marL="0" lvl="0" indent="0" algn="l" rtl="0">
              <a:spcBef>
                <a:spcPts val="0"/>
              </a:spcBef>
              <a:spcAft>
                <a:spcPts val="0"/>
              </a:spcAft>
              <a:buNone/>
            </a:pPr>
            <a:endParaRPr lang="en-US" altLang="zh-CN" dirty="0"/>
          </a:p>
          <a:p>
            <a:pPr marL="0" lvl="0" indent="0" algn="l" rtl="0">
              <a:spcBef>
                <a:spcPts val="0"/>
              </a:spcBef>
              <a:spcAft>
                <a:spcPts val="0"/>
              </a:spcAft>
              <a:buNone/>
            </a:pPr>
            <a:r>
              <a:rPr lang="zh-CN" altLang="zh-CN" dirty="0"/>
              <a:t>Finally, the timing impact of the sequential FSM and reused MAC datapath still needs synthesis results.</a:t>
            </a:r>
            <a:endParaRPr dirty="0"/>
          </a:p>
        </p:txBody>
      </p:sp>
    </p:spTree>
    <p:extLst>
      <p:ext uri="{BB962C8B-B14F-4D97-AF65-F5344CB8AC3E}">
        <p14:creationId xmlns:p14="http://schemas.microsoft.com/office/powerpoint/2010/main" val="15271832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a:extLst>
            <a:ext uri="{FF2B5EF4-FFF2-40B4-BE49-F238E27FC236}">
              <a16:creationId xmlns:a16="http://schemas.microsoft.com/office/drawing/2014/main" id="{C5C135A2-194C-0653-A444-691DB2D633CC}"/>
            </a:ext>
          </a:extLst>
        </p:cNvPr>
        <p:cNvGrpSpPr/>
        <p:nvPr/>
      </p:nvGrpSpPr>
      <p:grpSpPr>
        <a:xfrm>
          <a:off x="0" y="0"/>
          <a:ext cx="0" cy="0"/>
          <a:chOff x="0" y="0"/>
          <a:chExt cx="0" cy="0"/>
        </a:xfrm>
      </p:grpSpPr>
      <p:sp>
        <p:nvSpPr>
          <p:cNvPr id="412" name="Google Shape;412;g3f1d658e184_9_16:notes">
            <a:extLst>
              <a:ext uri="{FF2B5EF4-FFF2-40B4-BE49-F238E27FC236}">
                <a16:creationId xmlns:a16="http://schemas.microsoft.com/office/drawing/2014/main" id="{C4EC6A9D-6AE4-FC76-16BF-B24C0BD3D2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3" name="Google Shape;413;g3f1d658e184_9_16:notes">
            <a:extLst>
              <a:ext uri="{FF2B5EF4-FFF2-40B4-BE49-F238E27FC236}">
                <a16:creationId xmlns:a16="http://schemas.microsoft.com/office/drawing/2014/main" id="{505B8041-BD3A-A5CB-8621-622DB4FCA04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zh-CN" dirty="0"/>
              <a:t>Here are </a:t>
            </a:r>
            <a:r>
              <a:rPr lang="en-US" altLang="zh-CN" dirty="0"/>
              <a:t>some concerns for the design</a:t>
            </a:r>
            <a:r>
              <a:rPr lang="zh-CN" altLang="zh-CN" dirty="0"/>
              <a:t>. </a:t>
            </a:r>
            <a:endParaRPr lang="en-US" altLang="zh-CN" dirty="0"/>
          </a:p>
          <a:p>
            <a:pPr marL="0" lvl="0" indent="0" algn="l" rtl="0">
              <a:spcBef>
                <a:spcPts val="0"/>
              </a:spcBef>
              <a:spcAft>
                <a:spcPts val="0"/>
              </a:spcAft>
              <a:buNone/>
            </a:pPr>
            <a:r>
              <a:rPr lang="zh-CN" altLang="zh-CN" dirty="0"/>
              <a:t>first question is about the RTL-to-GDS flow setup.</a:t>
            </a:r>
            <a:r>
              <a:rPr lang="en-US" altLang="zh-CN" dirty="0"/>
              <a:t> </a:t>
            </a:r>
            <a:r>
              <a:rPr lang="zh-CN" altLang="zh-CN" dirty="0"/>
              <a:t>Before replacing the tutorial design with my own SRAM-based LSTM RTL</a:t>
            </a:r>
            <a:r>
              <a:rPr lang="en-US" altLang="zh-CN" dirty="0"/>
              <a:t>, we</a:t>
            </a:r>
            <a:r>
              <a:rPr lang="zh-CN" altLang="zh-CN" dirty="0"/>
              <a:t> first tried to run the provided GitHub/Jupyter Notebook </a:t>
            </a:r>
            <a:r>
              <a:rPr lang="zh-CN" altLang="zh-CN" sz="1100" b="1" i="0" u="none" strike="noStrike" cap="none" dirty="0">
                <a:solidFill>
                  <a:srgbClr val="000000"/>
                </a:solidFill>
                <a:effectLst/>
                <a:latin typeface="Arial"/>
                <a:ea typeface="Arial"/>
                <a:cs typeface="Arial"/>
                <a:sym typeface="Arial"/>
              </a:rPr>
              <a:t>02_rtl2gds_chip_top_custom.ipynb</a:t>
            </a:r>
            <a:r>
              <a:rPr lang="zh-CN" altLang="zh-CN" dirty="0"/>
              <a:t> LibreLane tutorial flow using the original demo design. However, the flow already fails at the Yosys synthesis stage, so I have not been able to complete the reference flow yet.</a:t>
            </a:r>
            <a:endParaRPr lang="en-US" altLang="zh-CN" dirty="0"/>
          </a:p>
          <a:p>
            <a:pPr marL="0" lvl="0" indent="0" algn="l" rtl="0">
              <a:spcBef>
                <a:spcPts val="0"/>
              </a:spcBef>
              <a:spcAft>
                <a:spcPts val="0"/>
              </a:spcAft>
              <a:buNone/>
            </a:pPr>
            <a:endParaRPr lang="en-US" altLang="zh-CN" dirty="0"/>
          </a:p>
          <a:p>
            <a:pPr marL="0" lvl="0" indent="0" algn="l" rtl="0">
              <a:spcBef>
                <a:spcPts val="0"/>
              </a:spcBef>
              <a:spcAft>
                <a:spcPts val="0"/>
              </a:spcAft>
              <a:buNone/>
            </a:pPr>
            <a:r>
              <a:rPr lang="zh-CN" altLang="zh-CN" dirty="0"/>
              <a:t>Second, do reviewers have suggestions for improving the activation approximation while keeping area small?. </a:t>
            </a:r>
            <a:endParaRPr lang="en-US" altLang="zh-CN" dirty="0"/>
          </a:p>
          <a:p>
            <a:pPr marL="0" lvl="0" indent="0" algn="l" rtl="0">
              <a:spcBef>
                <a:spcPts val="0"/>
              </a:spcBef>
              <a:spcAft>
                <a:spcPts val="0"/>
              </a:spcAft>
              <a:buNone/>
            </a:pPr>
            <a:endParaRPr lang="en-US" altLang="zh-CN" dirty="0"/>
          </a:p>
          <a:p>
            <a:pPr marL="0" lvl="0" indent="0" algn="l" rtl="0">
              <a:spcBef>
                <a:spcPts val="0"/>
              </a:spcBef>
              <a:spcAft>
                <a:spcPts val="0"/>
              </a:spcAft>
              <a:buNone/>
            </a:pPr>
            <a:r>
              <a:rPr lang="zh-CN" altLang="zh-CN" dirty="0"/>
              <a:t>Third, we list 50 MHz as a tentative target, but we would like to know whether there is an official clock-frequency requirement.</a:t>
            </a:r>
            <a:endParaRPr dirty="0"/>
          </a:p>
        </p:txBody>
      </p:sp>
    </p:spTree>
    <p:extLst>
      <p:ext uri="{BB962C8B-B14F-4D97-AF65-F5344CB8AC3E}">
        <p14:creationId xmlns:p14="http://schemas.microsoft.com/office/powerpoint/2010/main" val="24965784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a:extLst>
            <a:ext uri="{FF2B5EF4-FFF2-40B4-BE49-F238E27FC236}">
              <a16:creationId xmlns:a16="http://schemas.microsoft.com/office/drawing/2014/main" id="{B261BB90-9005-6F7B-EC16-BBA55F104F8D}"/>
            </a:ext>
          </a:extLst>
        </p:cNvPr>
        <p:cNvGrpSpPr/>
        <p:nvPr/>
      </p:nvGrpSpPr>
      <p:grpSpPr>
        <a:xfrm>
          <a:off x="0" y="0"/>
          <a:ext cx="0" cy="0"/>
          <a:chOff x="0" y="0"/>
          <a:chExt cx="0" cy="0"/>
        </a:xfrm>
      </p:grpSpPr>
      <p:sp>
        <p:nvSpPr>
          <p:cNvPr id="412" name="Google Shape;412;g3f1d658e184_9_16:notes">
            <a:extLst>
              <a:ext uri="{FF2B5EF4-FFF2-40B4-BE49-F238E27FC236}">
                <a16:creationId xmlns:a16="http://schemas.microsoft.com/office/drawing/2014/main" id="{746C802B-8D74-BBDA-001B-AC087FB8106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3" name="Google Shape;413;g3f1d658e184_9_16:notes">
            <a:extLst>
              <a:ext uri="{FF2B5EF4-FFF2-40B4-BE49-F238E27FC236}">
                <a16:creationId xmlns:a16="http://schemas.microsoft.com/office/drawing/2014/main" id="{707621FC-9225-DD0D-0162-5F6CDC5A90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zh-CN" dirty="0"/>
              <a:t>Since LSTM needs sigmoid and tanh, removing activation would reduce the project to mostly MAC computation. So we want to ask whether approximate activation is acceptable at this schematic review stage, or whether we should first focus on verified MAC and gate computation. </a:t>
            </a:r>
            <a:endParaRPr lang="en-US" altLang="zh-CN" dirty="0"/>
          </a:p>
          <a:p>
            <a:pPr marL="0" lvl="0" indent="0" algn="l" rtl="0">
              <a:spcBef>
                <a:spcPts val="0"/>
              </a:spcBef>
              <a:spcAft>
                <a:spcPts val="0"/>
              </a:spcAft>
              <a:buNone/>
            </a:pPr>
            <a:endParaRPr lang="en-US" altLang="zh-CN" dirty="0"/>
          </a:p>
          <a:p>
            <a:pPr marL="0" lvl="0" indent="0" algn="l" rtl="0">
              <a:spcBef>
                <a:spcPts val="0"/>
              </a:spcBef>
              <a:spcAft>
                <a:spcPts val="0"/>
              </a:spcAft>
              <a:buNone/>
            </a:pPr>
            <a:r>
              <a:rPr lang="zh-CN" altLang="zh-CN" dirty="0"/>
              <a:t>Also, because of the pin limit, we plan to use an 8-bit bidirectional host_data bus. </a:t>
            </a:r>
            <a:endParaRPr lang="en-US" altLang="zh-CN" dirty="0"/>
          </a:p>
          <a:p>
            <a:pPr marL="0" lvl="0" indent="0" algn="l" rtl="0">
              <a:spcBef>
                <a:spcPts val="0"/>
              </a:spcBef>
              <a:spcAft>
                <a:spcPts val="0"/>
              </a:spcAft>
              <a:buNone/>
            </a:pPr>
            <a:endParaRPr lang="en-US" altLang="zh-CN" dirty="0"/>
          </a:p>
          <a:p>
            <a:pPr marL="0" lvl="0" indent="0" algn="l" rtl="0">
              <a:spcBef>
                <a:spcPts val="0"/>
              </a:spcBef>
              <a:spcAft>
                <a:spcPts val="0"/>
              </a:spcAft>
              <a:buNone/>
            </a:pPr>
            <a:r>
              <a:rPr lang="zh-CN" altLang="zh-CN" dirty="0"/>
              <a:t>Finally, since the RTL has multiple small modules, we would like feedback on whether to run the full design directly through RTL-to-GDS first, or harden some blocks separately as macros.</a:t>
            </a:r>
            <a:endParaRPr dirty="0"/>
          </a:p>
        </p:txBody>
      </p:sp>
    </p:spTree>
    <p:extLst>
      <p:ext uri="{BB962C8B-B14F-4D97-AF65-F5344CB8AC3E}">
        <p14:creationId xmlns:p14="http://schemas.microsoft.com/office/powerpoint/2010/main" val="15898867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5_Title and Content">
  <p:cSld name="5_Title and Content">
    <p:spTree>
      <p:nvGrpSpPr>
        <p:cNvPr id="1" name="Shape 151"/>
        <p:cNvGrpSpPr/>
        <p:nvPr/>
      </p:nvGrpSpPr>
      <p:grpSpPr>
        <a:xfrm>
          <a:off x="0" y="0"/>
          <a:ext cx="0" cy="0"/>
          <a:chOff x="0" y="0"/>
          <a:chExt cx="0" cy="0"/>
        </a:xfrm>
      </p:grpSpPr>
      <p:sp>
        <p:nvSpPr>
          <p:cNvPr id="152" name="Google Shape;152;p33"/>
          <p:cNvSpPr txBox="1">
            <a:spLocks noGrp="1"/>
          </p:cNvSpPr>
          <p:nvPr>
            <p:ph type="title"/>
          </p:nvPr>
        </p:nvSpPr>
        <p:spPr>
          <a:xfrm>
            <a:off x="695417" y="137357"/>
            <a:ext cx="7961221" cy="488950"/>
          </a:xfrm>
          <a:prstGeom prst="rect">
            <a:avLst/>
          </a:prstGeom>
          <a:noFill/>
          <a:ln>
            <a:noFill/>
          </a:ln>
        </p:spPr>
        <p:txBody>
          <a:bodyPr spcFirstLastPara="1" wrap="square" lIns="0" tIns="34275" rIns="68575" bIns="34275" anchor="b"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153" name="Google Shape;153;p33"/>
          <p:cNvSpPr txBox="1">
            <a:spLocks noGrp="1"/>
          </p:cNvSpPr>
          <p:nvPr>
            <p:ph type="sldNum" idx="12"/>
          </p:nvPr>
        </p:nvSpPr>
        <p:spPr>
          <a:xfrm>
            <a:off x="3008" y="4811713"/>
            <a:ext cx="846137" cy="271462"/>
          </a:xfrm>
          <a:prstGeom prst="rect">
            <a:avLst/>
          </a:prstGeom>
          <a:noFill/>
          <a:ln>
            <a:noFill/>
          </a:ln>
        </p:spPr>
        <p:txBody>
          <a:bodyPr spcFirstLastPara="1" wrap="square" lIns="68575" tIns="34275" rIns="68575" bIns="34275" anchor="ctr" anchorCtr="0">
            <a:noAutofit/>
          </a:bodyPr>
          <a:lstStyle>
            <a:lvl1pPr marL="0" marR="0" lvl="0"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
        <p:nvSpPr>
          <p:cNvPr id="154" name="Google Shape;154;p33"/>
          <p:cNvSpPr txBox="1">
            <a:spLocks noGrp="1"/>
          </p:cNvSpPr>
          <p:nvPr>
            <p:ph type="body" idx="1"/>
          </p:nvPr>
        </p:nvSpPr>
        <p:spPr>
          <a:xfrm>
            <a:off x="695324" y="775331"/>
            <a:ext cx="7961313" cy="3629615"/>
          </a:xfrm>
          <a:prstGeom prst="rect">
            <a:avLst/>
          </a:prstGeom>
          <a:noFill/>
          <a:ln>
            <a:noFill/>
          </a:ln>
        </p:spPr>
        <p:txBody>
          <a:bodyPr spcFirstLastPara="1" wrap="square" lIns="68575" tIns="34275" rIns="68575" bIns="34275" anchor="t" anchorCtr="0">
            <a:noAutofit/>
          </a:bodyPr>
          <a:lstStyle>
            <a:lvl1pPr marL="457200" marR="0" lvl="0" indent="-228600" algn="l" rtl="0">
              <a:lnSpc>
                <a:spcPct val="100000"/>
              </a:lnSpc>
              <a:spcBef>
                <a:spcPts val="0"/>
              </a:spcBef>
              <a:spcAft>
                <a:spcPts val="0"/>
              </a:spcAft>
              <a:buClr>
                <a:schemeClr val="dk2"/>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120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30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30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30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transition spd="slow">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159"/>
        <p:cNvGrpSpPr/>
        <p:nvPr/>
      </p:nvGrpSpPr>
      <p:grpSpPr>
        <a:xfrm>
          <a:off x="0" y="0"/>
          <a:ext cx="0" cy="0"/>
          <a:chOff x="0" y="0"/>
          <a:chExt cx="0" cy="0"/>
        </a:xfrm>
      </p:grpSpPr>
      <p:sp>
        <p:nvSpPr>
          <p:cNvPr id="160" name="Google Shape;160;p35"/>
          <p:cNvSpPr txBox="1">
            <a:spLocks noGrp="1"/>
          </p:cNvSpPr>
          <p:nvPr>
            <p:ph type="title"/>
          </p:nvPr>
        </p:nvSpPr>
        <p:spPr>
          <a:xfrm>
            <a:off x="695417" y="137357"/>
            <a:ext cx="7961221" cy="488950"/>
          </a:xfrm>
          <a:prstGeom prst="rect">
            <a:avLst/>
          </a:prstGeom>
          <a:noFill/>
          <a:ln>
            <a:noFill/>
          </a:ln>
        </p:spPr>
        <p:txBody>
          <a:bodyPr spcFirstLastPara="1" wrap="square" lIns="0" tIns="34275" rIns="68575" bIns="34275" anchor="b"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161" name="Google Shape;161;p35"/>
          <p:cNvSpPr txBox="1">
            <a:spLocks noGrp="1"/>
          </p:cNvSpPr>
          <p:nvPr>
            <p:ph type="sldNum" idx="12"/>
          </p:nvPr>
        </p:nvSpPr>
        <p:spPr>
          <a:xfrm>
            <a:off x="3008" y="4811713"/>
            <a:ext cx="846137" cy="271462"/>
          </a:xfrm>
          <a:prstGeom prst="rect">
            <a:avLst/>
          </a:prstGeom>
          <a:noFill/>
          <a:ln>
            <a:noFill/>
          </a:ln>
        </p:spPr>
        <p:txBody>
          <a:bodyPr spcFirstLastPara="1" wrap="square" lIns="68575" tIns="34275" rIns="68575" bIns="34275" anchor="ctr" anchorCtr="0">
            <a:noAutofit/>
          </a:bodyPr>
          <a:lstStyle>
            <a:lvl1pPr marL="0" marR="0" lvl="0"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
        <p:nvSpPr>
          <p:cNvPr id="162" name="Google Shape;162;p35"/>
          <p:cNvSpPr txBox="1">
            <a:spLocks noGrp="1"/>
          </p:cNvSpPr>
          <p:nvPr>
            <p:ph type="body" idx="1"/>
          </p:nvPr>
        </p:nvSpPr>
        <p:spPr>
          <a:xfrm>
            <a:off x="695324" y="775331"/>
            <a:ext cx="7961313" cy="3629615"/>
          </a:xfrm>
          <a:prstGeom prst="rect">
            <a:avLst/>
          </a:prstGeom>
          <a:noFill/>
          <a:ln>
            <a:noFill/>
          </a:ln>
        </p:spPr>
        <p:txBody>
          <a:bodyPr spcFirstLastPara="1" wrap="square" lIns="68575" tIns="34275" rIns="68575" bIns="34275" anchor="t" anchorCtr="0">
            <a:noAutofit/>
          </a:bodyPr>
          <a:lstStyle>
            <a:lvl1pPr marL="457200" marR="0" lvl="0" indent="-228600" algn="l" rtl="0">
              <a:lnSpc>
                <a:spcPct val="100000"/>
              </a:lnSpc>
              <a:spcBef>
                <a:spcPts val="0"/>
              </a:spcBef>
              <a:spcAft>
                <a:spcPts val="0"/>
              </a:spcAft>
              <a:buClr>
                <a:schemeClr val="dk2"/>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120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30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30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30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with Ref">
  <p:cSld name="Title and Content with Ref">
    <p:spTree>
      <p:nvGrpSpPr>
        <p:cNvPr id="1" name="Shape 163"/>
        <p:cNvGrpSpPr/>
        <p:nvPr/>
      </p:nvGrpSpPr>
      <p:grpSpPr>
        <a:xfrm>
          <a:off x="0" y="0"/>
          <a:ext cx="0" cy="0"/>
          <a:chOff x="0" y="0"/>
          <a:chExt cx="0" cy="0"/>
        </a:xfrm>
      </p:grpSpPr>
      <p:sp>
        <p:nvSpPr>
          <p:cNvPr id="164" name="Google Shape;164;p36"/>
          <p:cNvSpPr txBox="1">
            <a:spLocks noGrp="1"/>
          </p:cNvSpPr>
          <p:nvPr>
            <p:ph type="body" idx="1"/>
          </p:nvPr>
        </p:nvSpPr>
        <p:spPr>
          <a:xfrm>
            <a:off x="695416" y="4505492"/>
            <a:ext cx="6162583" cy="246221"/>
          </a:xfrm>
          <a:prstGeom prst="rect">
            <a:avLst/>
          </a:prstGeom>
          <a:noFill/>
          <a:ln>
            <a:noFill/>
          </a:ln>
        </p:spPr>
        <p:txBody>
          <a:bodyPr spcFirstLastPara="1" wrap="square" lIns="68575" tIns="34275" rIns="68575" bIns="34275" anchor="b" anchorCtr="0">
            <a:normAutofit/>
          </a:bodyPr>
          <a:lstStyle>
            <a:lvl1pPr marL="457200" marR="0" lvl="0" indent="-228600" algn="l" rtl="0">
              <a:lnSpc>
                <a:spcPct val="100000"/>
              </a:lnSpc>
              <a:spcBef>
                <a:spcPts val="0"/>
              </a:spcBef>
              <a:spcAft>
                <a:spcPts val="0"/>
              </a:spcAft>
              <a:buClr>
                <a:srgbClr val="000000"/>
              </a:buClr>
              <a:buSzPts val="1000"/>
              <a:buFont typeface="Tahoma"/>
              <a:buNone/>
              <a:defRPr sz="1000" b="0" i="1" u="none" strike="noStrike" cap="none">
                <a:solidFill>
                  <a:srgbClr val="000000"/>
                </a:solidFill>
                <a:latin typeface="Tahoma"/>
                <a:ea typeface="Tahoma"/>
                <a:cs typeface="Tahoma"/>
                <a:sym typeface="Tahoma"/>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65" name="Google Shape;165;p36"/>
          <p:cNvSpPr txBox="1">
            <a:spLocks noGrp="1"/>
          </p:cNvSpPr>
          <p:nvPr>
            <p:ph type="title"/>
          </p:nvPr>
        </p:nvSpPr>
        <p:spPr>
          <a:xfrm>
            <a:off x="695417" y="137357"/>
            <a:ext cx="7961221" cy="488950"/>
          </a:xfrm>
          <a:prstGeom prst="rect">
            <a:avLst/>
          </a:prstGeom>
          <a:noFill/>
          <a:ln>
            <a:noFill/>
          </a:ln>
        </p:spPr>
        <p:txBody>
          <a:bodyPr spcFirstLastPara="1" wrap="square" lIns="0" tIns="34275" rIns="68575" bIns="34275" anchor="b"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166" name="Google Shape;166;p36"/>
          <p:cNvSpPr txBox="1">
            <a:spLocks noGrp="1"/>
          </p:cNvSpPr>
          <p:nvPr>
            <p:ph type="sldNum" idx="12"/>
          </p:nvPr>
        </p:nvSpPr>
        <p:spPr>
          <a:xfrm>
            <a:off x="3008" y="4811713"/>
            <a:ext cx="846137" cy="271462"/>
          </a:xfrm>
          <a:prstGeom prst="rect">
            <a:avLst/>
          </a:prstGeom>
          <a:noFill/>
          <a:ln>
            <a:noFill/>
          </a:ln>
        </p:spPr>
        <p:txBody>
          <a:bodyPr spcFirstLastPara="1" wrap="square" lIns="68575" tIns="34275" rIns="68575" bIns="34275" anchor="ctr" anchorCtr="0">
            <a:noAutofit/>
          </a:bodyPr>
          <a:lstStyle>
            <a:lvl1pPr marL="0" marR="0" lvl="0"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
        <p:nvSpPr>
          <p:cNvPr id="167" name="Google Shape;167;p36"/>
          <p:cNvSpPr txBox="1">
            <a:spLocks noGrp="1"/>
          </p:cNvSpPr>
          <p:nvPr>
            <p:ph type="body" idx="2"/>
          </p:nvPr>
        </p:nvSpPr>
        <p:spPr>
          <a:xfrm>
            <a:off x="695324" y="775331"/>
            <a:ext cx="7961313" cy="3629615"/>
          </a:xfrm>
          <a:prstGeom prst="rect">
            <a:avLst/>
          </a:prstGeom>
          <a:noFill/>
          <a:ln>
            <a:noFill/>
          </a:ln>
        </p:spPr>
        <p:txBody>
          <a:bodyPr spcFirstLastPara="1" wrap="square" lIns="68575" tIns="34275" rIns="68575" bIns="34275" anchor="t" anchorCtr="0">
            <a:noAutofit/>
          </a:bodyPr>
          <a:lstStyle>
            <a:lvl1pPr marL="457200" marR="0" lvl="0" indent="-228600" algn="l" rtl="0">
              <a:lnSpc>
                <a:spcPct val="100000"/>
              </a:lnSpc>
              <a:spcBef>
                <a:spcPts val="0"/>
              </a:spcBef>
              <a:spcAft>
                <a:spcPts val="0"/>
              </a:spcAft>
              <a:buClr>
                <a:schemeClr val="dk2"/>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120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30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30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30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transition spd="slow">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168"/>
        <p:cNvGrpSpPr/>
        <p:nvPr/>
      </p:nvGrpSpPr>
      <p:grpSpPr>
        <a:xfrm>
          <a:off x="0" y="0"/>
          <a:ext cx="0" cy="0"/>
          <a:chOff x="0" y="0"/>
          <a:chExt cx="0" cy="0"/>
        </a:xfrm>
      </p:grpSpPr>
      <p:sp>
        <p:nvSpPr>
          <p:cNvPr id="169" name="Google Shape;169;p37"/>
          <p:cNvSpPr txBox="1">
            <a:spLocks noGrp="1"/>
          </p:cNvSpPr>
          <p:nvPr>
            <p:ph type="title"/>
          </p:nvPr>
        </p:nvSpPr>
        <p:spPr>
          <a:xfrm>
            <a:off x="695417" y="137357"/>
            <a:ext cx="7961221" cy="488950"/>
          </a:xfrm>
          <a:prstGeom prst="rect">
            <a:avLst/>
          </a:prstGeom>
          <a:noFill/>
          <a:ln>
            <a:noFill/>
          </a:ln>
        </p:spPr>
        <p:txBody>
          <a:bodyPr spcFirstLastPara="1" wrap="square" lIns="0" tIns="34275" rIns="68575" bIns="34275" anchor="b"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170" name="Google Shape;170;p37"/>
          <p:cNvSpPr txBox="1">
            <a:spLocks noGrp="1"/>
          </p:cNvSpPr>
          <p:nvPr>
            <p:ph type="sldNum" idx="12"/>
          </p:nvPr>
        </p:nvSpPr>
        <p:spPr>
          <a:xfrm>
            <a:off x="3008" y="4811713"/>
            <a:ext cx="846137" cy="271462"/>
          </a:xfrm>
          <a:prstGeom prst="rect">
            <a:avLst/>
          </a:prstGeom>
          <a:noFill/>
          <a:ln>
            <a:noFill/>
          </a:ln>
        </p:spPr>
        <p:txBody>
          <a:bodyPr spcFirstLastPara="1" wrap="square" lIns="68575" tIns="34275" rIns="68575" bIns="34275" anchor="ctr" anchorCtr="0">
            <a:noAutofit/>
          </a:bodyPr>
          <a:lstStyle>
            <a:lvl1pPr marL="0" marR="0" lvl="0"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
        <p:nvSpPr>
          <p:cNvPr id="171" name="Google Shape;171;p37"/>
          <p:cNvSpPr txBox="1">
            <a:spLocks noGrp="1"/>
          </p:cNvSpPr>
          <p:nvPr>
            <p:ph type="body" idx="1"/>
          </p:nvPr>
        </p:nvSpPr>
        <p:spPr>
          <a:xfrm>
            <a:off x="695324" y="775331"/>
            <a:ext cx="7961313" cy="3629615"/>
          </a:xfrm>
          <a:prstGeom prst="rect">
            <a:avLst/>
          </a:prstGeom>
          <a:noFill/>
          <a:ln>
            <a:noFill/>
          </a:ln>
        </p:spPr>
        <p:txBody>
          <a:bodyPr spcFirstLastPara="1" wrap="square" lIns="68575" tIns="34275" rIns="68575" bIns="34275" anchor="t" anchorCtr="0">
            <a:noAutofit/>
          </a:bodyPr>
          <a:lstStyle>
            <a:lvl1pPr marL="457200" marR="0" lvl="0" indent="-228600" algn="l" rtl="0">
              <a:lnSpc>
                <a:spcPct val="100000"/>
              </a:lnSpc>
              <a:spcBef>
                <a:spcPts val="0"/>
              </a:spcBef>
              <a:spcAft>
                <a:spcPts val="0"/>
              </a:spcAft>
              <a:buClr>
                <a:schemeClr val="dk2"/>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120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30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30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30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_Title and Content">
  <p:cSld name="3_Title and Content">
    <p:spTree>
      <p:nvGrpSpPr>
        <p:cNvPr id="1" name="Shape 172"/>
        <p:cNvGrpSpPr/>
        <p:nvPr/>
      </p:nvGrpSpPr>
      <p:grpSpPr>
        <a:xfrm>
          <a:off x="0" y="0"/>
          <a:ext cx="0" cy="0"/>
          <a:chOff x="0" y="0"/>
          <a:chExt cx="0" cy="0"/>
        </a:xfrm>
      </p:grpSpPr>
      <p:sp>
        <p:nvSpPr>
          <p:cNvPr id="173" name="Google Shape;173;p38"/>
          <p:cNvSpPr txBox="1">
            <a:spLocks noGrp="1"/>
          </p:cNvSpPr>
          <p:nvPr>
            <p:ph type="title"/>
          </p:nvPr>
        </p:nvSpPr>
        <p:spPr>
          <a:xfrm>
            <a:off x="695417" y="137357"/>
            <a:ext cx="7961221" cy="488950"/>
          </a:xfrm>
          <a:prstGeom prst="rect">
            <a:avLst/>
          </a:prstGeom>
          <a:noFill/>
          <a:ln>
            <a:noFill/>
          </a:ln>
        </p:spPr>
        <p:txBody>
          <a:bodyPr spcFirstLastPara="1" wrap="square" lIns="0" tIns="34275" rIns="68575" bIns="34275" anchor="b"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174" name="Google Shape;174;p38"/>
          <p:cNvSpPr txBox="1">
            <a:spLocks noGrp="1"/>
          </p:cNvSpPr>
          <p:nvPr>
            <p:ph type="sldNum" idx="12"/>
          </p:nvPr>
        </p:nvSpPr>
        <p:spPr>
          <a:xfrm>
            <a:off x="3008" y="4811713"/>
            <a:ext cx="846137" cy="271462"/>
          </a:xfrm>
          <a:prstGeom prst="rect">
            <a:avLst/>
          </a:prstGeom>
          <a:noFill/>
          <a:ln>
            <a:noFill/>
          </a:ln>
        </p:spPr>
        <p:txBody>
          <a:bodyPr spcFirstLastPara="1" wrap="square" lIns="68575" tIns="34275" rIns="68575" bIns="34275" anchor="ctr" anchorCtr="0">
            <a:noAutofit/>
          </a:bodyPr>
          <a:lstStyle>
            <a:lvl1pPr marL="0" marR="0" lvl="0"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
        <p:nvSpPr>
          <p:cNvPr id="175" name="Google Shape;175;p38"/>
          <p:cNvSpPr txBox="1">
            <a:spLocks noGrp="1"/>
          </p:cNvSpPr>
          <p:nvPr>
            <p:ph type="body" idx="1"/>
          </p:nvPr>
        </p:nvSpPr>
        <p:spPr>
          <a:xfrm>
            <a:off x="695324" y="775331"/>
            <a:ext cx="7961313" cy="3629615"/>
          </a:xfrm>
          <a:prstGeom prst="rect">
            <a:avLst/>
          </a:prstGeom>
          <a:noFill/>
          <a:ln>
            <a:noFill/>
          </a:ln>
        </p:spPr>
        <p:txBody>
          <a:bodyPr spcFirstLastPara="1" wrap="square" lIns="68575" tIns="34275" rIns="68575" bIns="34275" anchor="t" anchorCtr="0">
            <a:noAutofit/>
          </a:bodyPr>
          <a:lstStyle>
            <a:lvl1pPr marL="457200" marR="0" lvl="0" indent="-228600" algn="l" rtl="0">
              <a:lnSpc>
                <a:spcPct val="100000"/>
              </a:lnSpc>
              <a:spcBef>
                <a:spcPts val="0"/>
              </a:spcBef>
              <a:spcAft>
                <a:spcPts val="0"/>
              </a:spcAft>
              <a:buClr>
                <a:schemeClr val="dk2"/>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120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30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30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30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4_Title and Content">
  <p:cSld name="4_Title and Content">
    <p:spTree>
      <p:nvGrpSpPr>
        <p:cNvPr id="1" name="Shape 176"/>
        <p:cNvGrpSpPr/>
        <p:nvPr/>
      </p:nvGrpSpPr>
      <p:grpSpPr>
        <a:xfrm>
          <a:off x="0" y="0"/>
          <a:ext cx="0" cy="0"/>
          <a:chOff x="0" y="0"/>
          <a:chExt cx="0" cy="0"/>
        </a:xfrm>
      </p:grpSpPr>
      <p:sp>
        <p:nvSpPr>
          <p:cNvPr id="177" name="Google Shape;177;p39"/>
          <p:cNvSpPr txBox="1">
            <a:spLocks noGrp="1"/>
          </p:cNvSpPr>
          <p:nvPr>
            <p:ph type="title"/>
          </p:nvPr>
        </p:nvSpPr>
        <p:spPr>
          <a:xfrm>
            <a:off x="695417" y="137357"/>
            <a:ext cx="7961221" cy="488950"/>
          </a:xfrm>
          <a:prstGeom prst="rect">
            <a:avLst/>
          </a:prstGeom>
          <a:noFill/>
          <a:ln>
            <a:noFill/>
          </a:ln>
        </p:spPr>
        <p:txBody>
          <a:bodyPr spcFirstLastPara="1" wrap="square" lIns="0" tIns="34275" rIns="68575" bIns="34275" anchor="b"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178" name="Google Shape;178;p39"/>
          <p:cNvSpPr txBox="1">
            <a:spLocks noGrp="1"/>
          </p:cNvSpPr>
          <p:nvPr>
            <p:ph type="sldNum" idx="12"/>
          </p:nvPr>
        </p:nvSpPr>
        <p:spPr>
          <a:xfrm>
            <a:off x="3008" y="4811713"/>
            <a:ext cx="846137" cy="271462"/>
          </a:xfrm>
          <a:prstGeom prst="rect">
            <a:avLst/>
          </a:prstGeom>
          <a:noFill/>
          <a:ln>
            <a:noFill/>
          </a:ln>
        </p:spPr>
        <p:txBody>
          <a:bodyPr spcFirstLastPara="1" wrap="square" lIns="68575" tIns="34275" rIns="68575" bIns="34275" anchor="ctr" anchorCtr="0">
            <a:noAutofit/>
          </a:bodyPr>
          <a:lstStyle>
            <a:lvl1pPr marL="0" marR="0" lvl="0"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
        <p:nvSpPr>
          <p:cNvPr id="179" name="Google Shape;179;p39"/>
          <p:cNvSpPr txBox="1">
            <a:spLocks noGrp="1"/>
          </p:cNvSpPr>
          <p:nvPr>
            <p:ph type="body" idx="1"/>
          </p:nvPr>
        </p:nvSpPr>
        <p:spPr>
          <a:xfrm>
            <a:off x="695324" y="775331"/>
            <a:ext cx="7961313" cy="3629615"/>
          </a:xfrm>
          <a:prstGeom prst="rect">
            <a:avLst/>
          </a:prstGeom>
          <a:noFill/>
          <a:ln>
            <a:noFill/>
          </a:ln>
        </p:spPr>
        <p:txBody>
          <a:bodyPr spcFirstLastPara="1" wrap="square" lIns="68575" tIns="34275" rIns="68575" bIns="34275" anchor="t" anchorCtr="0">
            <a:noAutofit/>
          </a:bodyPr>
          <a:lstStyle>
            <a:lvl1pPr marL="457200" marR="0" lvl="0" indent="-228600" algn="l" rtl="0">
              <a:lnSpc>
                <a:spcPct val="100000"/>
              </a:lnSpc>
              <a:spcBef>
                <a:spcPts val="0"/>
              </a:spcBef>
              <a:spcAft>
                <a:spcPts val="0"/>
              </a:spcAft>
              <a:buClr>
                <a:schemeClr val="dk2"/>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120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30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30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30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80"/>
        <p:cNvGrpSpPr/>
        <p:nvPr/>
      </p:nvGrpSpPr>
      <p:grpSpPr>
        <a:xfrm>
          <a:off x="0" y="0"/>
          <a:ext cx="0" cy="0"/>
          <a:chOff x="0" y="0"/>
          <a:chExt cx="0" cy="0"/>
        </a:xfrm>
      </p:grpSpPr>
      <p:sp>
        <p:nvSpPr>
          <p:cNvPr id="181" name="Google Shape;181;p40"/>
          <p:cNvSpPr txBox="1">
            <a:spLocks noGrp="1"/>
          </p:cNvSpPr>
          <p:nvPr>
            <p:ph type="title"/>
          </p:nvPr>
        </p:nvSpPr>
        <p:spPr>
          <a:xfrm>
            <a:off x="0" y="0"/>
            <a:ext cx="2250000" cy="2250000"/>
          </a:xfrm>
          <a:prstGeom prst="rect">
            <a:avLst/>
          </a:prstGeom>
          <a:noFill/>
          <a:ln>
            <a:noFill/>
          </a:ln>
        </p:spPr>
        <p:txBody>
          <a:bodyPr spcFirstLastPara="1" wrap="square" lIns="68575" tIns="34275" rIns="68575" bIns="34275"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182" name="Google Shape;182;p40"/>
          <p:cNvSpPr txBox="1"/>
          <p:nvPr/>
        </p:nvSpPr>
        <p:spPr>
          <a:xfrm>
            <a:off x="1371600" y="4800600"/>
            <a:ext cx="6400800" cy="276999"/>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chemeClr val="lt1"/>
                </a:solidFill>
                <a:latin typeface="Arial"/>
                <a:ea typeface="Arial"/>
                <a:cs typeface="Arial"/>
                <a:sym typeface="Arial"/>
              </a:rPr>
              <a:t>Symposia on VLSI Technology and Circuits</a:t>
            </a:r>
            <a:endParaRPr sz="1100" b="0" i="0" u="none" strike="noStrike" cap="none">
              <a:solidFill>
                <a:srgbClr val="000000"/>
              </a:solidFill>
              <a:latin typeface="Arial"/>
              <a:ea typeface="Arial"/>
              <a:cs typeface="Arial"/>
              <a:sym typeface="Arial"/>
            </a:endParaRPr>
          </a:p>
        </p:txBody>
      </p:sp>
      <p:sp>
        <p:nvSpPr>
          <p:cNvPr id="183" name="Google Shape;183;p40"/>
          <p:cNvSpPr txBox="1">
            <a:spLocks noGrp="1"/>
          </p:cNvSpPr>
          <p:nvPr>
            <p:ph type="sldNum" idx="12"/>
          </p:nvPr>
        </p:nvSpPr>
        <p:spPr>
          <a:xfrm>
            <a:off x="3008" y="4811713"/>
            <a:ext cx="846137" cy="271462"/>
          </a:xfrm>
          <a:prstGeom prst="rect">
            <a:avLst/>
          </a:prstGeom>
          <a:noFill/>
          <a:ln>
            <a:noFill/>
          </a:ln>
        </p:spPr>
        <p:txBody>
          <a:bodyPr spcFirstLastPara="1" wrap="square" lIns="68575" tIns="34275" rIns="68575" bIns="34275" anchor="ctr" anchorCtr="0">
            <a:noAutofit/>
          </a:bodyPr>
          <a:lstStyle>
            <a:lvl1pPr marL="0" marR="0" lvl="0"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84"/>
        <p:cNvGrpSpPr/>
        <p:nvPr/>
      </p:nvGrpSpPr>
      <p:grpSpPr>
        <a:xfrm>
          <a:off x="0" y="0"/>
          <a:ext cx="0" cy="0"/>
          <a:chOff x="0" y="0"/>
          <a:chExt cx="0" cy="0"/>
        </a:xfrm>
      </p:grpSpPr>
      <p:sp>
        <p:nvSpPr>
          <p:cNvPr id="185" name="Google Shape;185;p41"/>
          <p:cNvSpPr txBox="1">
            <a:spLocks noGrp="1"/>
          </p:cNvSpPr>
          <p:nvPr>
            <p:ph type="title"/>
          </p:nvPr>
        </p:nvSpPr>
        <p:spPr>
          <a:xfrm>
            <a:off x="695417" y="137357"/>
            <a:ext cx="7961221" cy="488950"/>
          </a:xfrm>
          <a:prstGeom prst="rect">
            <a:avLst/>
          </a:prstGeom>
          <a:noFill/>
          <a:ln>
            <a:noFill/>
          </a:ln>
        </p:spPr>
        <p:txBody>
          <a:bodyPr spcFirstLastPara="1" wrap="square" lIns="0" tIns="34275" rIns="68575" bIns="34275" anchor="b"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186" name="Google Shape;186;p41"/>
          <p:cNvSpPr txBox="1">
            <a:spLocks noGrp="1"/>
          </p:cNvSpPr>
          <p:nvPr>
            <p:ph type="sldNum" idx="12"/>
          </p:nvPr>
        </p:nvSpPr>
        <p:spPr>
          <a:xfrm>
            <a:off x="3008" y="4811713"/>
            <a:ext cx="846137" cy="271462"/>
          </a:xfrm>
          <a:prstGeom prst="rect">
            <a:avLst/>
          </a:prstGeom>
          <a:noFill/>
          <a:ln>
            <a:noFill/>
          </a:ln>
        </p:spPr>
        <p:txBody>
          <a:bodyPr spcFirstLastPara="1" wrap="square" lIns="68575" tIns="34275" rIns="68575" bIns="34275" anchor="ctr" anchorCtr="0">
            <a:noAutofit/>
          </a:bodyPr>
          <a:lstStyle>
            <a:lvl1pPr marL="0" marR="0" lvl="0"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
        <p:nvSpPr>
          <p:cNvPr id="187" name="Google Shape;187;p41"/>
          <p:cNvSpPr txBox="1">
            <a:spLocks noGrp="1"/>
          </p:cNvSpPr>
          <p:nvPr>
            <p:ph type="body" idx="1"/>
          </p:nvPr>
        </p:nvSpPr>
        <p:spPr>
          <a:xfrm>
            <a:off x="695324" y="775331"/>
            <a:ext cx="7961313" cy="3629615"/>
          </a:xfrm>
          <a:prstGeom prst="rect">
            <a:avLst/>
          </a:prstGeom>
          <a:noFill/>
          <a:ln>
            <a:noFill/>
          </a:ln>
        </p:spPr>
        <p:txBody>
          <a:bodyPr spcFirstLastPara="1" wrap="square" lIns="68575" tIns="34275" rIns="68575" bIns="34275" anchor="t" anchorCtr="0">
            <a:noAutofit/>
          </a:bodyPr>
          <a:lstStyle>
            <a:lvl1pPr marL="457200" marR="0" lvl="0" indent="-228600" algn="l" rtl="0">
              <a:lnSpc>
                <a:spcPct val="100000"/>
              </a:lnSpc>
              <a:spcBef>
                <a:spcPts val="0"/>
              </a:spcBef>
              <a:spcAft>
                <a:spcPts val="0"/>
              </a:spcAft>
              <a:buClr>
                <a:schemeClr val="dk2"/>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120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30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30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30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transition spd="slow">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Content 1" type="obj">
  <p:cSld name="OBJECT">
    <p:spTree>
      <p:nvGrpSpPr>
        <p:cNvPr id="1" name="Shape 188"/>
        <p:cNvGrpSpPr/>
        <p:nvPr/>
      </p:nvGrpSpPr>
      <p:grpSpPr>
        <a:xfrm>
          <a:off x="0" y="0"/>
          <a:ext cx="0" cy="0"/>
          <a:chOff x="0" y="0"/>
          <a:chExt cx="0" cy="0"/>
        </a:xfrm>
      </p:grpSpPr>
      <p:sp>
        <p:nvSpPr>
          <p:cNvPr id="189" name="Google Shape;189;p42"/>
          <p:cNvSpPr txBox="1">
            <a:spLocks noGrp="1"/>
          </p:cNvSpPr>
          <p:nvPr>
            <p:ph type="title"/>
          </p:nvPr>
        </p:nvSpPr>
        <p:spPr>
          <a:xfrm>
            <a:off x="457200" y="57150"/>
            <a:ext cx="8229600" cy="800100"/>
          </a:xfrm>
          <a:prstGeom prst="rect">
            <a:avLst/>
          </a:prstGeom>
          <a:noFill/>
          <a:ln>
            <a:noFill/>
          </a:ln>
        </p:spPr>
        <p:txBody>
          <a:bodyPr spcFirstLastPara="1" wrap="square" lIns="68575" tIns="34275" rIns="68575" bIns="34275" anchor="ctr" anchorCtr="0">
            <a:noAutofit/>
          </a:bodyPr>
          <a:lstStyle>
            <a:lvl1pPr marR="0" lvl="0" algn="ctr" rtl="0">
              <a:lnSpc>
                <a:spcPct val="9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1pPr>
            <a:lvl2pPr marR="0" lvl="1" algn="ctr" rtl="0">
              <a:lnSpc>
                <a:spcPct val="9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ctr" rtl="0">
              <a:lnSpc>
                <a:spcPct val="9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ctr" rtl="0">
              <a:lnSpc>
                <a:spcPct val="9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ctr" rtl="0">
              <a:lnSpc>
                <a:spcPct val="9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ctr" rtl="0">
              <a:lnSpc>
                <a:spcPct val="9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ctr" rtl="0">
              <a:lnSpc>
                <a:spcPct val="9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ctr" rtl="0">
              <a:lnSpc>
                <a:spcPct val="9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ctr" rtl="0">
              <a:lnSpc>
                <a:spcPct val="9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190" name="Google Shape;190;p42"/>
          <p:cNvSpPr txBox="1">
            <a:spLocks noGrp="1"/>
          </p:cNvSpPr>
          <p:nvPr>
            <p:ph type="body" idx="1"/>
          </p:nvPr>
        </p:nvSpPr>
        <p:spPr>
          <a:xfrm>
            <a:off x="457200" y="800101"/>
            <a:ext cx="8229600" cy="4162500"/>
          </a:xfrm>
          <a:prstGeom prst="rect">
            <a:avLst/>
          </a:prstGeom>
          <a:noFill/>
          <a:ln>
            <a:noFill/>
          </a:ln>
        </p:spPr>
        <p:txBody>
          <a:bodyPr spcFirstLastPara="1" wrap="square" lIns="68575" tIns="34275" rIns="68575" bIns="34275" anchor="t" anchorCtr="0">
            <a:noAutofit/>
          </a:bodyPr>
          <a:lstStyle>
            <a:lvl1pPr marL="457200" marR="0" lvl="0"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1pPr>
            <a:lvl2pPr marL="914400" marR="0" lvl="1"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2pPr>
            <a:lvl3pPr marL="1371600" marR="0" lvl="2" indent="-317500" algn="l" rtl="0">
              <a:lnSpc>
                <a:spcPct val="100000"/>
              </a:lnSpc>
              <a:spcBef>
                <a:spcPts val="0"/>
              </a:spcBef>
              <a:spcAft>
                <a:spcPts val="0"/>
              </a:spcAft>
              <a:buClr>
                <a:schemeClr val="dk1"/>
              </a:buClr>
              <a:buSzPts val="1400"/>
              <a:buFont typeface="Arial"/>
              <a:buChar char="■"/>
              <a:defRPr sz="1100" b="0" i="0" u="none" strike="noStrike" cap="none">
                <a:solidFill>
                  <a:srgbClr val="000000"/>
                </a:solidFill>
                <a:latin typeface="Arial"/>
                <a:ea typeface="Arial"/>
                <a:cs typeface="Arial"/>
                <a:sym typeface="Arial"/>
              </a:defRPr>
            </a:lvl3pPr>
            <a:lvl4pPr marL="1828800" marR="0" lvl="3" indent="-317500" algn="l" rtl="0">
              <a:lnSpc>
                <a:spcPct val="100000"/>
              </a:lnSpc>
              <a:spcBef>
                <a:spcPts val="0"/>
              </a:spcBef>
              <a:spcAft>
                <a:spcPts val="0"/>
              </a:spcAft>
              <a:buClr>
                <a:schemeClr val="dk1"/>
              </a:buClr>
              <a:buSzPts val="1400"/>
              <a:buFont typeface="Arial"/>
              <a:buChar char="●"/>
              <a:defRPr sz="1100" b="0" i="0" u="none" strike="noStrike" cap="none">
                <a:solidFill>
                  <a:srgbClr val="000000"/>
                </a:solidFill>
                <a:latin typeface="Arial"/>
                <a:ea typeface="Arial"/>
                <a:cs typeface="Arial"/>
                <a:sym typeface="Arial"/>
              </a:defRPr>
            </a:lvl4pPr>
            <a:lvl5pPr marL="2286000" marR="0" lvl="4" indent="-317500" algn="l" rtl="0">
              <a:lnSpc>
                <a:spcPct val="100000"/>
              </a:lnSpc>
              <a:spcBef>
                <a:spcPts val="0"/>
              </a:spcBef>
              <a:spcAft>
                <a:spcPts val="0"/>
              </a:spcAft>
              <a:buClr>
                <a:schemeClr val="dk1"/>
              </a:buClr>
              <a:buSzPts val="1400"/>
              <a:buFont typeface="Arial"/>
              <a:buChar char="○"/>
              <a:defRPr sz="1100" b="0" i="0" u="none" strike="noStrike" cap="none">
                <a:solidFill>
                  <a:srgbClr val="000000"/>
                </a:solidFill>
                <a:latin typeface="Arial"/>
                <a:ea typeface="Arial"/>
                <a:cs typeface="Arial"/>
                <a:sym typeface="Arial"/>
              </a:defRPr>
            </a:lvl5pPr>
            <a:lvl6pPr marL="2743200" marR="0" lvl="5" indent="-317500" algn="l" rtl="0">
              <a:lnSpc>
                <a:spcPct val="100000"/>
              </a:lnSpc>
              <a:spcBef>
                <a:spcPts val="0"/>
              </a:spcBef>
              <a:spcAft>
                <a:spcPts val="0"/>
              </a:spcAft>
              <a:buClr>
                <a:schemeClr val="dk1"/>
              </a:buClr>
              <a:buSzPts val="1400"/>
              <a:buFont typeface="Arial"/>
              <a:buChar char="■"/>
              <a:defRPr sz="1100" b="0" i="0" u="none" strike="noStrike" cap="none">
                <a:solidFill>
                  <a:srgbClr val="000000"/>
                </a:solidFill>
                <a:latin typeface="Arial"/>
                <a:ea typeface="Arial"/>
                <a:cs typeface="Arial"/>
                <a:sym typeface="Arial"/>
              </a:defRPr>
            </a:lvl6pPr>
            <a:lvl7pPr marL="3200400" marR="0" lvl="6" indent="-317500" algn="l" rtl="0">
              <a:lnSpc>
                <a:spcPct val="100000"/>
              </a:lnSpc>
              <a:spcBef>
                <a:spcPts val="0"/>
              </a:spcBef>
              <a:spcAft>
                <a:spcPts val="0"/>
              </a:spcAft>
              <a:buClr>
                <a:schemeClr val="dk1"/>
              </a:buClr>
              <a:buSzPts val="1400"/>
              <a:buFont typeface="Arial"/>
              <a:buChar char="●"/>
              <a:defRPr sz="1100" b="0" i="0" u="none" strike="noStrike" cap="none">
                <a:solidFill>
                  <a:srgbClr val="000000"/>
                </a:solidFill>
                <a:latin typeface="Arial"/>
                <a:ea typeface="Arial"/>
                <a:cs typeface="Arial"/>
                <a:sym typeface="Arial"/>
              </a:defRPr>
            </a:lvl7pPr>
            <a:lvl8pPr marL="3657600" marR="0" lvl="7" indent="-317500" algn="l" rtl="0">
              <a:lnSpc>
                <a:spcPct val="100000"/>
              </a:lnSpc>
              <a:spcBef>
                <a:spcPts val="0"/>
              </a:spcBef>
              <a:spcAft>
                <a:spcPts val="0"/>
              </a:spcAft>
              <a:buClr>
                <a:schemeClr val="dk1"/>
              </a:buClr>
              <a:buSzPts val="1400"/>
              <a:buFont typeface="Arial"/>
              <a:buChar char="○"/>
              <a:defRPr sz="1100" b="0" i="0" u="none" strike="noStrike" cap="none">
                <a:solidFill>
                  <a:srgbClr val="000000"/>
                </a:solidFill>
                <a:latin typeface="Arial"/>
                <a:ea typeface="Arial"/>
                <a:cs typeface="Arial"/>
                <a:sym typeface="Arial"/>
              </a:defRPr>
            </a:lvl8pPr>
            <a:lvl9pPr marL="4114800" marR="0" lvl="8" indent="-317500" algn="l" rtl="0">
              <a:lnSpc>
                <a:spcPct val="100000"/>
              </a:lnSpc>
              <a:spcBef>
                <a:spcPts val="0"/>
              </a:spcBef>
              <a:spcAft>
                <a:spcPts val="0"/>
              </a:spcAft>
              <a:buClr>
                <a:schemeClr val="dk1"/>
              </a:buClr>
              <a:buSzPts val="1400"/>
              <a:buFont typeface="Arial"/>
              <a:buChar char="■"/>
              <a:defRPr sz="1100" b="0" i="0" u="none" strike="noStrike" cap="none">
                <a:solidFill>
                  <a:srgbClr val="000000"/>
                </a:solidFill>
                <a:latin typeface="Arial"/>
                <a:ea typeface="Arial"/>
                <a:cs typeface="Arial"/>
                <a:sym typeface="Arial"/>
              </a:defRPr>
            </a:lvl9pPr>
          </a:lstStyle>
          <a:p>
            <a:endParaRPr/>
          </a:p>
        </p:txBody>
      </p:sp>
      <p:pic>
        <p:nvPicPr>
          <p:cNvPr id="191" name="Google Shape;191;p42"/>
          <p:cNvPicPr preferRelativeResize="0"/>
          <p:nvPr/>
        </p:nvPicPr>
        <p:blipFill rotWithShape="1">
          <a:blip r:embed="rId2">
            <a:alphaModFix/>
          </a:blip>
          <a:srcRect/>
          <a:stretch/>
        </p:blipFill>
        <p:spPr>
          <a:xfrm>
            <a:off x="78825" y="4819600"/>
            <a:ext cx="2067676" cy="265225"/>
          </a:xfrm>
          <a:prstGeom prst="rect">
            <a:avLst/>
          </a:prstGeom>
          <a:noFill/>
          <a:ln>
            <a:noFill/>
          </a:ln>
        </p:spPr>
      </p:pic>
      <p:sp>
        <p:nvSpPr>
          <p:cNvPr id="192" name="Google Shape;192;p42"/>
          <p:cNvSpPr txBox="1">
            <a:spLocks noGrp="1"/>
          </p:cNvSpPr>
          <p:nvPr>
            <p:ph type="sldNum" idx="12"/>
          </p:nvPr>
        </p:nvSpPr>
        <p:spPr>
          <a:xfrm>
            <a:off x="8556784" y="4749851"/>
            <a:ext cx="548775" cy="393525"/>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pic>
        <p:nvPicPr>
          <p:cNvPr id="193" name="Google Shape;193;p42"/>
          <p:cNvPicPr preferRelativeResize="0"/>
          <p:nvPr/>
        </p:nvPicPr>
        <p:blipFill rotWithShape="1">
          <a:blip r:embed="rId3">
            <a:alphaModFix/>
          </a:blip>
          <a:srcRect/>
          <a:stretch/>
        </p:blipFill>
        <p:spPr>
          <a:xfrm>
            <a:off x="6685750" y="4395101"/>
            <a:ext cx="1617024" cy="68972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05"/>
        <p:cNvGrpSpPr/>
        <p:nvPr/>
      </p:nvGrpSpPr>
      <p:grpSpPr>
        <a:xfrm>
          <a:off x="0" y="0"/>
          <a:ext cx="0" cy="0"/>
          <a:chOff x="0" y="0"/>
          <a:chExt cx="0" cy="0"/>
        </a:xfrm>
      </p:grpSpPr>
      <p:sp>
        <p:nvSpPr>
          <p:cNvPr id="106" name="Google Shape;106;p26"/>
          <p:cNvSpPr txBox="1">
            <a:spLocks noGrp="1"/>
          </p:cNvSpPr>
          <p:nvPr>
            <p:ph type="title"/>
          </p:nvPr>
        </p:nvSpPr>
        <p:spPr>
          <a:xfrm>
            <a:off x="722313" y="3305176"/>
            <a:ext cx="7772400" cy="1021500"/>
          </a:xfrm>
          <a:prstGeom prst="rect">
            <a:avLst/>
          </a:prstGeom>
          <a:noFill/>
          <a:ln>
            <a:noFill/>
          </a:ln>
        </p:spPr>
        <p:txBody>
          <a:bodyPr spcFirstLastPara="1" wrap="square" lIns="68575" tIns="34275" rIns="68575" bIns="34275" anchor="t" anchorCtr="0">
            <a:noAutofit/>
          </a:bodyPr>
          <a:lstStyle>
            <a:lvl1pPr lvl="0" algn="l">
              <a:lnSpc>
                <a:spcPct val="100000"/>
              </a:lnSpc>
              <a:spcBef>
                <a:spcPts val="0"/>
              </a:spcBef>
              <a:spcAft>
                <a:spcPts val="0"/>
              </a:spcAft>
              <a:buSzPts val="1100"/>
              <a:buNone/>
              <a:defRPr sz="3000" b="1" cap="none"/>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7" name="Google Shape;107;p26"/>
          <p:cNvSpPr txBox="1">
            <a:spLocks noGrp="1"/>
          </p:cNvSpPr>
          <p:nvPr>
            <p:ph type="body" idx="1"/>
          </p:nvPr>
        </p:nvSpPr>
        <p:spPr>
          <a:xfrm>
            <a:off x="722313" y="2180035"/>
            <a:ext cx="7772400" cy="1125000"/>
          </a:xfrm>
          <a:prstGeom prst="rect">
            <a:avLst/>
          </a:prstGeom>
          <a:noFill/>
          <a:ln>
            <a:noFill/>
          </a:ln>
        </p:spPr>
        <p:txBody>
          <a:bodyPr spcFirstLastPara="1" wrap="square" lIns="68575" tIns="34275" rIns="68575" bIns="34275" anchor="b" anchorCtr="0">
            <a:noAutofit/>
          </a:bodyPr>
          <a:lstStyle>
            <a:lvl1pPr marL="457200" lvl="0" indent="-228600" algn="l">
              <a:lnSpc>
                <a:spcPct val="100000"/>
              </a:lnSpc>
              <a:spcBef>
                <a:spcPts val="300"/>
              </a:spcBef>
              <a:spcAft>
                <a:spcPts val="0"/>
              </a:spcAft>
              <a:buSzPts val="1200"/>
              <a:buFont typeface="Verdana"/>
              <a:buNone/>
              <a:defRPr sz="1500"/>
            </a:lvl1pPr>
            <a:lvl2pPr marL="914400" lvl="1" indent="-228600" algn="l">
              <a:lnSpc>
                <a:spcPct val="100000"/>
              </a:lnSpc>
              <a:spcBef>
                <a:spcPts val="300"/>
              </a:spcBef>
              <a:spcAft>
                <a:spcPts val="0"/>
              </a:spcAft>
              <a:buSzPts val="1400"/>
              <a:buFont typeface="Verdana"/>
              <a:buNone/>
              <a:defRPr sz="1400"/>
            </a:lvl2pPr>
            <a:lvl3pPr marL="1371600" lvl="2" indent="-228600" algn="l">
              <a:lnSpc>
                <a:spcPct val="100000"/>
              </a:lnSpc>
              <a:spcBef>
                <a:spcPts val="200"/>
              </a:spcBef>
              <a:spcAft>
                <a:spcPts val="0"/>
              </a:spcAft>
              <a:buSzPts val="1200"/>
              <a:buNone/>
              <a:defRPr sz="1200"/>
            </a:lvl3pPr>
            <a:lvl4pPr marL="1828800" lvl="3" indent="-228600" algn="l">
              <a:lnSpc>
                <a:spcPct val="100000"/>
              </a:lnSpc>
              <a:spcBef>
                <a:spcPts val="200"/>
              </a:spcBef>
              <a:spcAft>
                <a:spcPts val="0"/>
              </a:spcAft>
              <a:buSzPts val="1100"/>
              <a:buFont typeface="Verdana"/>
              <a:buNone/>
              <a:defRPr sz="1100"/>
            </a:lvl4pPr>
            <a:lvl5pPr marL="2286000" lvl="4" indent="-228600" algn="l">
              <a:lnSpc>
                <a:spcPct val="100000"/>
              </a:lnSpc>
              <a:spcBef>
                <a:spcPts val="200"/>
              </a:spcBef>
              <a:spcAft>
                <a:spcPts val="0"/>
              </a:spcAft>
              <a:buSzPts val="1100"/>
              <a:buNone/>
              <a:defRPr sz="1100"/>
            </a:lvl5pPr>
            <a:lvl6pPr marL="2743200" lvl="5" indent="-228600" algn="l">
              <a:lnSpc>
                <a:spcPct val="100000"/>
              </a:lnSpc>
              <a:spcBef>
                <a:spcPts val="200"/>
              </a:spcBef>
              <a:spcAft>
                <a:spcPts val="0"/>
              </a:spcAft>
              <a:buSzPts val="1100"/>
              <a:buNone/>
              <a:defRPr sz="1100"/>
            </a:lvl6pPr>
            <a:lvl7pPr marL="3200400" lvl="6" indent="-228600" algn="l">
              <a:lnSpc>
                <a:spcPct val="100000"/>
              </a:lnSpc>
              <a:spcBef>
                <a:spcPts val="200"/>
              </a:spcBef>
              <a:spcAft>
                <a:spcPts val="0"/>
              </a:spcAft>
              <a:buSzPts val="1100"/>
              <a:buNone/>
              <a:defRPr sz="1100"/>
            </a:lvl7pPr>
            <a:lvl8pPr marL="3657600" lvl="7" indent="-228600" algn="l">
              <a:lnSpc>
                <a:spcPct val="100000"/>
              </a:lnSpc>
              <a:spcBef>
                <a:spcPts val="200"/>
              </a:spcBef>
              <a:spcAft>
                <a:spcPts val="0"/>
              </a:spcAft>
              <a:buSzPts val="1100"/>
              <a:buNone/>
              <a:defRPr sz="1100"/>
            </a:lvl8pPr>
            <a:lvl9pPr marL="4114800" lvl="8" indent="-228600" algn="l">
              <a:lnSpc>
                <a:spcPct val="100000"/>
              </a:lnSpc>
              <a:spcBef>
                <a:spcPts val="200"/>
              </a:spcBef>
              <a:spcAft>
                <a:spcPts val="0"/>
              </a:spcAft>
              <a:buSzPts val="1100"/>
              <a:buNone/>
              <a:defRPr sz="1100"/>
            </a:lvl9pPr>
          </a:lstStyle>
          <a:p>
            <a:endParaRPr/>
          </a:p>
        </p:txBody>
      </p:sp>
      <p:sp>
        <p:nvSpPr>
          <p:cNvPr id="108" name="Google Shape;108;p26"/>
          <p:cNvSpPr txBox="1">
            <a:spLocks noGrp="1"/>
          </p:cNvSpPr>
          <p:nvPr>
            <p:ph type="dt" idx="10"/>
          </p:nvPr>
        </p:nvSpPr>
        <p:spPr>
          <a:xfrm>
            <a:off x="1219200" y="4629151"/>
            <a:ext cx="31242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9" name="Google Shape;109;p26"/>
          <p:cNvSpPr txBox="1">
            <a:spLocks noGrp="1"/>
          </p:cNvSpPr>
          <p:nvPr>
            <p:ph type="sldNum" idx="12"/>
          </p:nvPr>
        </p:nvSpPr>
        <p:spPr>
          <a:xfrm>
            <a:off x="533400" y="4629151"/>
            <a:ext cx="685800" cy="273900"/>
          </a:xfrm>
          <a:prstGeom prst="rect">
            <a:avLst/>
          </a:prstGeom>
          <a:noFill/>
          <a:ln>
            <a:noFill/>
          </a:ln>
        </p:spPr>
        <p:txBody>
          <a:bodyPr spcFirstLastPara="1" wrap="square" lIns="68575" tIns="34275" rIns="68575" bIns="34275" anchor="ctr" anchorCtr="0">
            <a:noAutofit/>
          </a:bodyPr>
          <a:lstStyle>
            <a:lvl1pPr marL="0" marR="0" lvl="0" indent="0" algn="l">
              <a:lnSpc>
                <a:spcPct val="100000"/>
              </a:lnSpc>
              <a:spcBef>
                <a:spcPts val="0"/>
              </a:spcBef>
              <a:spcAft>
                <a:spcPts val="0"/>
              </a:spcAft>
              <a:buClr>
                <a:srgbClr val="000000"/>
              </a:buClr>
              <a:buSzPts val="800"/>
              <a:buFont typeface="Arial"/>
              <a:buNone/>
              <a:defRPr sz="800" b="0" i="0" u="none" strike="noStrike" cap="none">
                <a:solidFill>
                  <a:srgbClr val="898989"/>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800"/>
              <a:buFont typeface="Arial"/>
              <a:buNone/>
              <a:defRPr sz="800" b="0" i="0" u="none" strike="noStrike" cap="none">
                <a:solidFill>
                  <a:srgbClr val="898989"/>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800"/>
              <a:buFont typeface="Arial"/>
              <a:buNone/>
              <a:defRPr sz="800" b="0" i="0" u="none" strike="noStrike" cap="none">
                <a:solidFill>
                  <a:srgbClr val="898989"/>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800"/>
              <a:buFont typeface="Arial"/>
              <a:buNone/>
              <a:defRPr sz="800" b="0" i="0" u="none" strike="noStrike" cap="none">
                <a:solidFill>
                  <a:srgbClr val="898989"/>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800"/>
              <a:buFont typeface="Arial"/>
              <a:buNone/>
              <a:defRPr sz="800" b="0" i="0" u="none" strike="noStrike" cap="none">
                <a:solidFill>
                  <a:srgbClr val="898989"/>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800"/>
              <a:buFont typeface="Arial"/>
              <a:buNone/>
              <a:defRPr sz="800" b="0" i="0" u="none" strike="noStrike" cap="none">
                <a:solidFill>
                  <a:srgbClr val="898989"/>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800"/>
              <a:buFont typeface="Arial"/>
              <a:buNone/>
              <a:defRPr sz="800" b="0" i="0" u="none" strike="noStrike" cap="none">
                <a:solidFill>
                  <a:srgbClr val="898989"/>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800"/>
              <a:buFont typeface="Arial"/>
              <a:buNone/>
              <a:defRPr sz="800" b="0" i="0" u="none" strike="noStrike" cap="none">
                <a:solidFill>
                  <a:srgbClr val="898989"/>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800"/>
              <a:buFont typeface="Arial"/>
              <a:buNone/>
              <a:defRPr sz="800" b="0" i="0" u="none" strike="noStrike" cap="none">
                <a:solidFill>
                  <a:srgbClr val="898989"/>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5911867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gi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gi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gi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3"/>
        <p:cNvGrpSpPr/>
        <p:nvPr/>
      </p:nvGrpSpPr>
      <p:grpSpPr>
        <a:xfrm>
          <a:off x="0" y="0"/>
          <a:ext cx="0" cy="0"/>
          <a:chOff x="0" y="0"/>
          <a:chExt cx="0" cy="0"/>
        </a:xfrm>
      </p:grpSpPr>
      <p:sp>
        <p:nvSpPr>
          <p:cNvPr id="144" name="Google Shape;144;p31"/>
          <p:cNvSpPr txBox="1"/>
          <p:nvPr/>
        </p:nvSpPr>
        <p:spPr>
          <a:xfrm>
            <a:off x="284909" y="4628375"/>
            <a:ext cx="1543050" cy="273844"/>
          </a:xfrm>
          <a:prstGeom prst="rect">
            <a:avLst/>
          </a:prstGeom>
          <a:no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66A1"/>
              </a:buClr>
              <a:buSzPts val="200"/>
              <a:buFont typeface="Calibri"/>
              <a:buNone/>
            </a:pPr>
            <a:fld id="{00000000-1234-1234-1234-123412341234}" type="slidenum">
              <a:rPr lang="en" sz="900" b="0" i="0" u="none" strike="noStrike" cap="none">
                <a:solidFill>
                  <a:srgbClr val="0066A1"/>
                </a:solidFill>
                <a:latin typeface="Calibri"/>
                <a:ea typeface="Calibri"/>
                <a:cs typeface="Calibri"/>
                <a:sym typeface="Calibri"/>
              </a:rPr>
              <a:t>‹#›</a:t>
            </a:fld>
            <a:endParaRPr sz="900" b="0" i="0" u="none" strike="noStrike" cap="none">
              <a:solidFill>
                <a:srgbClr val="0066A1"/>
              </a:solidFill>
              <a:latin typeface="Calibri"/>
              <a:ea typeface="Calibri"/>
              <a:cs typeface="Calibri"/>
              <a:sym typeface="Calibri"/>
            </a:endParaRPr>
          </a:p>
        </p:txBody>
      </p:sp>
      <p:pic>
        <p:nvPicPr>
          <p:cNvPr id="145" name="Google Shape;145;p31"/>
          <p:cNvPicPr preferRelativeResize="0"/>
          <p:nvPr/>
        </p:nvPicPr>
        <p:blipFill rotWithShape="1">
          <a:blip r:embed="rId12">
            <a:alphaModFix/>
          </a:blip>
          <a:srcRect/>
          <a:stretch/>
        </p:blipFill>
        <p:spPr>
          <a:xfrm>
            <a:off x="8153349" y="4553785"/>
            <a:ext cx="859278" cy="266690"/>
          </a:xfrm>
          <a:prstGeom prst="rect">
            <a:avLst/>
          </a:prstGeom>
          <a:noFill/>
          <a:ln>
            <a:noFill/>
          </a:ln>
        </p:spPr>
      </p:pic>
      <p:pic>
        <p:nvPicPr>
          <p:cNvPr id="146" name="Google Shape;146;p31"/>
          <p:cNvPicPr preferRelativeResize="0"/>
          <p:nvPr/>
        </p:nvPicPr>
        <p:blipFill rotWithShape="1">
          <a:blip r:embed="rId13">
            <a:alphaModFix/>
          </a:blip>
          <a:srcRect/>
          <a:stretch/>
        </p:blipFill>
        <p:spPr>
          <a:xfrm>
            <a:off x="3665" y="1"/>
            <a:ext cx="9140333" cy="685525"/>
          </a:xfrm>
          <a:prstGeom prst="rect">
            <a:avLst/>
          </a:prstGeom>
          <a:noFill/>
          <a:ln>
            <a:noFill/>
          </a:ln>
        </p:spPr>
      </p:pic>
      <p:pic>
        <p:nvPicPr>
          <p:cNvPr id="147" name="Google Shape;147;p31"/>
          <p:cNvPicPr preferRelativeResize="0"/>
          <p:nvPr/>
        </p:nvPicPr>
        <p:blipFill rotWithShape="1">
          <a:blip r:embed="rId14">
            <a:alphaModFix/>
          </a:blip>
          <a:srcRect/>
          <a:stretch/>
        </p:blipFill>
        <p:spPr>
          <a:xfrm>
            <a:off x="1" y="4457701"/>
            <a:ext cx="9140333" cy="68552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77"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705"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6" name="Google Shape;422;p79">
            <a:extLst>
              <a:ext uri="{FF2B5EF4-FFF2-40B4-BE49-F238E27FC236}">
                <a16:creationId xmlns:a16="http://schemas.microsoft.com/office/drawing/2014/main" id="{78504B40-7CF8-0E75-7FE5-638ED5F7E0C3}"/>
              </a:ext>
            </a:extLst>
          </p:cNvPr>
          <p:cNvSpPr txBox="1">
            <a:spLocks/>
          </p:cNvSpPr>
          <p:nvPr/>
        </p:nvSpPr>
        <p:spPr>
          <a:xfrm>
            <a:off x="311700" y="250987"/>
            <a:ext cx="8520600" cy="10461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100"/>
              <a:buFont typeface="Arial"/>
              <a:buNone/>
              <a:defRPr sz="3000" b="1"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pPr algn="ctr"/>
            <a:r>
              <a:rPr lang="en-US" dirty="0"/>
              <a:t>A54 </a:t>
            </a:r>
            <a:r>
              <a:rPr lang="en-US" dirty="0" err="1"/>
              <a:t>Waibibabu</a:t>
            </a:r>
            <a:endParaRPr lang="en-US" dirty="0"/>
          </a:p>
        </p:txBody>
      </p:sp>
      <p:sp>
        <p:nvSpPr>
          <p:cNvPr id="7" name="Google Shape;424;p79">
            <a:extLst>
              <a:ext uri="{FF2B5EF4-FFF2-40B4-BE49-F238E27FC236}">
                <a16:creationId xmlns:a16="http://schemas.microsoft.com/office/drawing/2014/main" id="{0205FF3E-C0D8-2AEB-164F-4B70EFAF22B7}"/>
              </a:ext>
            </a:extLst>
          </p:cNvPr>
          <p:cNvSpPr txBox="1"/>
          <p:nvPr/>
        </p:nvSpPr>
        <p:spPr>
          <a:xfrm>
            <a:off x="1412501" y="1022238"/>
            <a:ext cx="6916957" cy="933302"/>
          </a:xfrm>
          <a:prstGeom prst="rect">
            <a:avLst/>
          </a:prstGeom>
          <a:noFill/>
          <a:ln>
            <a:noFill/>
          </a:ln>
        </p:spPr>
        <p:txBody>
          <a:bodyPr spcFirstLastPara="1" wrap="square" lIns="91425" tIns="91425" rIns="91425" bIns="91425" anchor="t" anchorCtr="0">
            <a:spAutoFit/>
          </a:bodyPr>
          <a:lstStyle/>
          <a:p>
            <a:pPr marL="0" marR="76200" lvl="0" indent="0" algn="l" rtl="0">
              <a:lnSpc>
                <a:spcPct val="150000"/>
              </a:lnSpc>
              <a:spcBef>
                <a:spcPts val="0"/>
              </a:spcBef>
              <a:spcAft>
                <a:spcPts val="0"/>
              </a:spcAft>
              <a:buNone/>
            </a:pPr>
            <a:r>
              <a:rPr lang="en" sz="2400" dirty="0">
                <a:solidFill>
                  <a:srgbClr val="1F2328"/>
                </a:solidFill>
                <a:highlight>
                  <a:srgbClr val="FFFFFF"/>
                </a:highlight>
              </a:rPr>
              <a:t>LSTM-Based Accelerator for Data Processing</a:t>
            </a:r>
            <a:endParaRPr sz="2400" dirty="0">
              <a:solidFill>
                <a:srgbClr val="1F2328"/>
              </a:solidFill>
              <a:highlight>
                <a:srgbClr val="FFFFFF"/>
              </a:highlight>
            </a:endParaRPr>
          </a:p>
          <a:p>
            <a:pPr marL="0" lvl="0" indent="0" algn="l" rtl="0">
              <a:lnSpc>
                <a:spcPct val="115000"/>
              </a:lnSpc>
              <a:spcBef>
                <a:spcPts val="0"/>
              </a:spcBef>
              <a:spcAft>
                <a:spcPts val="0"/>
              </a:spcAft>
              <a:buNone/>
            </a:pPr>
            <a:endParaRPr sz="1100" dirty="0">
              <a:solidFill>
                <a:schemeClr val="dk1"/>
              </a:solidFill>
            </a:endParaRPr>
          </a:p>
        </p:txBody>
      </p:sp>
      <p:sp>
        <p:nvSpPr>
          <p:cNvPr id="8" name="Google Shape;425;p79">
            <a:extLst>
              <a:ext uri="{FF2B5EF4-FFF2-40B4-BE49-F238E27FC236}">
                <a16:creationId xmlns:a16="http://schemas.microsoft.com/office/drawing/2014/main" id="{FE0D8C7F-EC6C-BC57-B39C-5A52F09AC49A}"/>
              </a:ext>
            </a:extLst>
          </p:cNvPr>
          <p:cNvSpPr txBox="1"/>
          <p:nvPr/>
        </p:nvSpPr>
        <p:spPr>
          <a:xfrm>
            <a:off x="533350" y="4058575"/>
            <a:ext cx="7921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t>Presentation video:</a:t>
            </a:r>
            <a:endParaRPr dirty="0"/>
          </a:p>
        </p:txBody>
      </p:sp>
      <p:graphicFrame>
        <p:nvGraphicFramePr>
          <p:cNvPr id="9" name="Google Shape;425;p85">
            <a:extLst>
              <a:ext uri="{FF2B5EF4-FFF2-40B4-BE49-F238E27FC236}">
                <a16:creationId xmlns:a16="http://schemas.microsoft.com/office/drawing/2014/main" id="{C3B6E380-D57B-C652-5B3A-9B96DA5CC220}"/>
              </a:ext>
            </a:extLst>
          </p:cNvPr>
          <p:cNvGraphicFramePr/>
          <p:nvPr>
            <p:extLst>
              <p:ext uri="{D42A27DB-BD31-4B8C-83A1-F6EECF244321}">
                <p14:modId xmlns:p14="http://schemas.microsoft.com/office/powerpoint/2010/main" val="2385736922"/>
              </p:ext>
            </p:extLst>
          </p:nvPr>
        </p:nvGraphicFramePr>
        <p:xfrm>
          <a:off x="611117" y="1780704"/>
          <a:ext cx="7765966" cy="2194380"/>
        </p:xfrm>
        <a:graphic>
          <a:graphicData uri="http://schemas.openxmlformats.org/drawingml/2006/table">
            <a:tbl>
              <a:tblPr>
                <a:tableStyleId>{DF8FD5D2-E72E-459C-8272-A8D23B92CC7B}</a:tableStyleId>
              </a:tblPr>
              <a:tblGrid>
                <a:gridCol w="1347766">
                  <a:extLst>
                    <a:ext uri="{9D8B030D-6E8A-4147-A177-3AD203B41FA5}">
                      <a16:colId xmlns:a16="http://schemas.microsoft.com/office/drawing/2014/main" val="20000"/>
                    </a:ext>
                  </a:extLst>
                </a:gridCol>
                <a:gridCol w="2732180">
                  <a:extLst>
                    <a:ext uri="{9D8B030D-6E8A-4147-A177-3AD203B41FA5}">
                      <a16:colId xmlns:a16="http://schemas.microsoft.com/office/drawing/2014/main" val="20001"/>
                    </a:ext>
                  </a:extLst>
                </a:gridCol>
                <a:gridCol w="1338108">
                  <a:extLst>
                    <a:ext uri="{9D8B030D-6E8A-4147-A177-3AD203B41FA5}">
                      <a16:colId xmlns:a16="http://schemas.microsoft.com/office/drawing/2014/main" val="20002"/>
                    </a:ext>
                  </a:extLst>
                </a:gridCol>
                <a:gridCol w="2347912">
                  <a:extLst>
                    <a:ext uri="{9D8B030D-6E8A-4147-A177-3AD203B41FA5}">
                      <a16:colId xmlns:a16="http://schemas.microsoft.com/office/drawing/2014/main" val="20003"/>
                    </a:ext>
                  </a:extLst>
                </a:gridCol>
              </a:tblGrid>
              <a:tr h="301525">
                <a:tc>
                  <a:txBody>
                    <a:bodyPr/>
                    <a:lstStyle/>
                    <a:p>
                      <a:pPr marL="0" lvl="0" indent="0" algn="l" rtl="0">
                        <a:spcBef>
                          <a:spcPts val="0"/>
                        </a:spcBef>
                        <a:spcAft>
                          <a:spcPts val="0"/>
                        </a:spcAft>
                        <a:buNone/>
                      </a:pPr>
                      <a:r>
                        <a:rPr lang="en" sz="1200" b="0" u="none" strike="noStrike" cap="none" dirty="0">
                          <a:solidFill>
                            <a:schemeClr val="tx1"/>
                          </a:solidFill>
                          <a:sym typeface="Arial"/>
                        </a:rPr>
                        <a:t>Discord name</a:t>
                      </a:r>
                      <a:endParaRPr sz="1200" b="0" i="0" u="none" strike="noStrike" cap="none" dirty="0">
                        <a:solidFill>
                          <a:schemeClr val="tx1"/>
                        </a:solidFill>
                        <a:latin typeface="+mn-lt"/>
                        <a:ea typeface="+mn-ea"/>
                        <a:cs typeface="+mn-cs"/>
                        <a:sym typeface="Arial"/>
                      </a:endParaRPr>
                    </a:p>
                  </a:txBody>
                  <a:tcPr marL="91425" marR="91425" marT="91425" marB="91425"/>
                </a:tc>
                <a:tc>
                  <a:txBody>
                    <a:bodyPr/>
                    <a:lstStyle/>
                    <a:p>
                      <a:pPr marL="0" lvl="0" indent="0" algn="l" rtl="0">
                        <a:spcBef>
                          <a:spcPts val="0"/>
                        </a:spcBef>
                        <a:spcAft>
                          <a:spcPts val="0"/>
                        </a:spcAft>
                        <a:buNone/>
                      </a:pPr>
                      <a:r>
                        <a:rPr lang="en" sz="1200" b="0" u="none" strike="noStrike" cap="none" dirty="0">
                          <a:solidFill>
                            <a:schemeClr val="tx1"/>
                          </a:solidFill>
                          <a:sym typeface="Arial"/>
                        </a:rPr>
                        <a:t>Affiliation</a:t>
                      </a:r>
                      <a:endParaRPr sz="1200" b="0" i="0" u="none" strike="noStrike" cap="none" dirty="0">
                        <a:solidFill>
                          <a:schemeClr val="tx1"/>
                        </a:solidFill>
                        <a:latin typeface="+mn-lt"/>
                        <a:ea typeface="+mn-ea"/>
                        <a:cs typeface="+mn-cs"/>
                        <a:sym typeface="Arial"/>
                      </a:endParaRPr>
                    </a:p>
                  </a:txBody>
                  <a:tcPr marL="91425" marR="91425" marT="91425" marB="91425"/>
                </a:tc>
                <a:tc>
                  <a:txBody>
                    <a:bodyPr/>
                    <a:lstStyle/>
                    <a:p>
                      <a:pPr marL="0" lvl="0" indent="0" algn="l" rtl="0">
                        <a:spcBef>
                          <a:spcPts val="0"/>
                        </a:spcBef>
                        <a:spcAft>
                          <a:spcPts val="0"/>
                        </a:spcAft>
                        <a:buNone/>
                      </a:pPr>
                      <a:r>
                        <a:rPr lang="en" sz="1200" b="0" u="none" strike="noStrike" cap="none">
                          <a:solidFill>
                            <a:schemeClr val="tx1"/>
                          </a:solidFill>
                          <a:sym typeface="Arial"/>
                        </a:rPr>
                        <a:t>Experience</a:t>
                      </a:r>
                      <a:endParaRPr sz="1200" b="0" i="0" u="none" strike="noStrike" cap="none">
                        <a:solidFill>
                          <a:schemeClr val="tx1"/>
                        </a:solidFill>
                        <a:latin typeface="+mn-lt"/>
                        <a:ea typeface="+mn-ea"/>
                        <a:cs typeface="+mn-cs"/>
                        <a:sym typeface="Arial"/>
                      </a:endParaRPr>
                    </a:p>
                  </a:txBody>
                  <a:tcPr marL="91425" marR="91425" marT="91425" marB="91425"/>
                </a:tc>
                <a:tc>
                  <a:txBody>
                    <a:bodyPr/>
                    <a:lstStyle/>
                    <a:p>
                      <a:pPr marL="0" lvl="0" indent="0" algn="l" rtl="0">
                        <a:spcBef>
                          <a:spcPts val="0"/>
                        </a:spcBef>
                        <a:spcAft>
                          <a:spcPts val="0"/>
                        </a:spcAft>
                        <a:buNone/>
                      </a:pPr>
                      <a:r>
                        <a:rPr lang="en" sz="1200" b="0" u="none" strike="noStrike" cap="none">
                          <a:solidFill>
                            <a:schemeClr val="tx1"/>
                          </a:solidFill>
                          <a:sym typeface="Arial"/>
                        </a:rPr>
                        <a:t>Role</a:t>
                      </a:r>
                      <a:endParaRPr sz="1200" b="0" i="0" u="none" strike="noStrike" cap="none">
                        <a:solidFill>
                          <a:schemeClr val="tx1"/>
                        </a:solidFill>
                        <a:latin typeface="+mn-lt"/>
                        <a:ea typeface="+mn-ea"/>
                        <a:cs typeface="+mn-cs"/>
                        <a:sym typeface="Arial"/>
                      </a:endParaRPr>
                    </a:p>
                  </a:txBody>
                  <a:tcPr marL="91425" marR="91425" marT="91425" marB="91425"/>
                </a:tc>
                <a:extLst>
                  <a:ext uri="{0D108BD9-81ED-4DB2-BD59-A6C34878D82A}">
                    <a16:rowId xmlns:a16="http://schemas.microsoft.com/office/drawing/2014/main" val="10000"/>
                  </a:ext>
                </a:extLst>
              </a:tr>
              <a:tr h="276400">
                <a:tc>
                  <a:txBody>
                    <a:bodyPr/>
                    <a:lstStyle/>
                    <a:p>
                      <a:pPr marL="0" lvl="0" indent="0" algn="l" rtl="0">
                        <a:spcBef>
                          <a:spcPts val="0"/>
                        </a:spcBef>
                        <a:spcAft>
                          <a:spcPts val="0"/>
                        </a:spcAft>
                        <a:buNone/>
                      </a:pPr>
                      <a:r>
                        <a:rPr lang="zh-CN" altLang="zh-CN" sz="1200" b="0" u="none" strike="noStrike" cap="none" dirty="0">
                          <a:solidFill>
                            <a:schemeClr val="tx1"/>
                          </a:solidFill>
                          <a:sym typeface="Arial"/>
                        </a:rPr>
                        <a:t>hank_chen_0326</a:t>
                      </a:r>
                      <a:endParaRPr sz="1200" b="0" i="0" u="none" strike="noStrike" cap="none" dirty="0">
                        <a:solidFill>
                          <a:schemeClr val="tx1"/>
                        </a:solidFill>
                        <a:latin typeface="+mn-lt"/>
                        <a:ea typeface="+mn-ea"/>
                        <a:cs typeface="+mn-cs"/>
                        <a:sym typeface="Arial"/>
                      </a:endParaRPr>
                    </a:p>
                  </a:txBody>
                  <a:tcPr marL="91425" marR="91425" marT="91425" marB="91425"/>
                </a:tc>
                <a:tc>
                  <a:txBody>
                    <a:bodyPr/>
                    <a:lstStyle/>
                    <a:p>
                      <a:pPr marL="0" lvl="0" indent="0" algn="l" rtl="0">
                        <a:spcBef>
                          <a:spcPts val="0"/>
                        </a:spcBef>
                        <a:spcAft>
                          <a:spcPts val="0"/>
                        </a:spcAft>
                        <a:buNone/>
                      </a:pPr>
                      <a:r>
                        <a:rPr lang="zh-CN" altLang="zh-CN" sz="1200" b="0" u="none" strike="noStrike" cap="none" dirty="0">
                          <a:solidFill>
                            <a:schemeClr val="tx1"/>
                          </a:solidFill>
                          <a:sym typeface="Arial"/>
                        </a:rPr>
                        <a:t>Cornell University</a:t>
                      </a:r>
                      <a:endParaRPr sz="1200" b="0" i="0" u="none" strike="noStrike" cap="none" dirty="0">
                        <a:solidFill>
                          <a:schemeClr val="tx1"/>
                        </a:solidFill>
                        <a:latin typeface="+mn-lt"/>
                        <a:ea typeface="+mn-ea"/>
                        <a:cs typeface="+mn-cs"/>
                        <a:sym typeface="Aria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zh-CN" altLang="zh-CN" sz="1200" b="0" u="none" strike="noStrike" cap="none" dirty="0">
                          <a:solidFill>
                            <a:schemeClr val="tx1"/>
                          </a:solidFill>
                          <a:sym typeface="Arial"/>
                        </a:rPr>
                        <a:t>Master graduate</a:t>
                      </a:r>
                      <a:endParaRPr sz="1200" b="0" i="0" u="none" strike="noStrike" cap="none" dirty="0">
                        <a:solidFill>
                          <a:schemeClr val="tx1"/>
                        </a:solidFill>
                        <a:latin typeface="+mn-lt"/>
                        <a:ea typeface="+mn-ea"/>
                        <a:cs typeface="+mn-cs"/>
                        <a:sym typeface="Arial"/>
                      </a:endParaRPr>
                    </a:p>
                  </a:txBody>
                  <a:tcPr marL="91425" marR="91425" marT="91425" marB="91425"/>
                </a:tc>
                <a:tc>
                  <a:txBody>
                    <a:bodyPr/>
                    <a:lstStyle/>
                    <a:p>
                      <a:pPr marL="0" lvl="0" indent="0" algn="l" rtl="0">
                        <a:spcBef>
                          <a:spcPts val="0"/>
                        </a:spcBef>
                        <a:spcAft>
                          <a:spcPts val="0"/>
                        </a:spcAft>
                        <a:buNone/>
                      </a:pPr>
                      <a:r>
                        <a:rPr lang="en" sz="1200" b="0" u="none" strike="noStrike" cap="none" dirty="0">
                          <a:solidFill>
                            <a:schemeClr val="tx1"/>
                          </a:solidFill>
                          <a:sym typeface="Arial"/>
                        </a:rPr>
                        <a:t>RTL2GDS F</a:t>
                      </a:r>
                      <a:r>
                        <a:rPr lang="en-US" altLang="zh-CN" sz="1200" b="0" u="none" strike="noStrike" cap="none" dirty="0">
                          <a:solidFill>
                            <a:schemeClr val="tx1"/>
                          </a:solidFill>
                          <a:sym typeface="Arial"/>
                        </a:rPr>
                        <a:t>low Study</a:t>
                      </a:r>
                      <a:endParaRPr sz="1200" b="0" i="0" u="none" strike="noStrike" cap="none" dirty="0">
                        <a:solidFill>
                          <a:schemeClr val="tx1"/>
                        </a:solidFill>
                        <a:latin typeface="+mn-lt"/>
                        <a:ea typeface="+mn-ea"/>
                        <a:cs typeface="+mn-cs"/>
                        <a:sym typeface="Arial"/>
                      </a:endParaRPr>
                    </a:p>
                  </a:txBody>
                  <a:tcPr marL="91425" marR="91425" marT="91425" marB="91425"/>
                </a:tc>
                <a:extLst>
                  <a:ext uri="{0D108BD9-81ED-4DB2-BD59-A6C34878D82A}">
                    <a16:rowId xmlns:a16="http://schemas.microsoft.com/office/drawing/2014/main" val="10001"/>
                  </a:ext>
                </a:extLst>
              </a:tr>
              <a:tr h="236400">
                <a:tc>
                  <a:txBody>
                    <a:bodyPr/>
                    <a:lstStyle/>
                    <a:p>
                      <a:pPr marL="0" lvl="0" indent="0" algn="l" rtl="0">
                        <a:spcBef>
                          <a:spcPts val="0"/>
                        </a:spcBef>
                        <a:spcAft>
                          <a:spcPts val="0"/>
                        </a:spcAft>
                        <a:buNone/>
                      </a:pPr>
                      <a:r>
                        <a:rPr lang="zh-CN" altLang="zh-CN" sz="1200" b="0" u="none" strike="noStrike" cap="none" dirty="0">
                          <a:solidFill>
                            <a:schemeClr val="tx1"/>
                          </a:solidFill>
                          <a:sym typeface="Arial"/>
                        </a:rPr>
                        <a:t>digitalguyalan</a:t>
                      </a:r>
                      <a:endParaRPr sz="1200" b="0" i="0" u="none" strike="noStrike" cap="none" dirty="0">
                        <a:solidFill>
                          <a:schemeClr val="tx1"/>
                        </a:solidFill>
                        <a:latin typeface="+mn-lt"/>
                        <a:ea typeface="+mn-ea"/>
                        <a:cs typeface="+mn-cs"/>
                        <a:sym typeface="Arial"/>
                      </a:endParaRPr>
                    </a:p>
                  </a:txBody>
                  <a:tcPr marL="91425" marR="91425" marT="91425" marB="91425"/>
                </a:tc>
                <a:tc>
                  <a:txBody>
                    <a:bodyPr/>
                    <a:lstStyle/>
                    <a:p>
                      <a:pPr marL="0" lvl="0" indent="0" algn="l" rtl="0">
                        <a:spcBef>
                          <a:spcPts val="0"/>
                        </a:spcBef>
                        <a:spcAft>
                          <a:spcPts val="0"/>
                        </a:spcAft>
                        <a:buNone/>
                      </a:pPr>
                      <a:r>
                        <a:rPr lang="zh-CN" altLang="zh-CN" sz="1200" b="0" u="none" strike="noStrike" cap="none" dirty="0">
                          <a:solidFill>
                            <a:schemeClr val="tx1"/>
                          </a:solidFill>
                          <a:sym typeface="Arial"/>
                        </a:rPr>
                        <a:t>University of California, Los Angeles</a:t>
                      </a:r>
                      <a:endParaRPr sz="1200" b="0" i="0" u="none" strike="noStrike" cap="none" dirty="0">
                        <a:solidFill>
                          <a:schemeClr val="tx1"/>
                        </a:solidFill>
                        <a:latin typeface="+mn-lt"/>
                        <a:ea typeface="+mn-ea"/>
                        <a:cs typeface="+mn-cs"/>
                        <a:sym typeface="Aria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zh-CN" altLang="zh-CN" sz="1200" b="0" u="none" strike="noStrike" cap="none" dirty="0">
                          <a:solidFill>
                            <a:schemeClr val="tx1"/>
                          </a:solidFill>
                          <a:sym typeface="Arial"/>
                        </a:rPr>
                        <a:t>Master graduate</a:t>
                      </a:r>
                      <a:endParaRPr sz="1200" b="0" i="0" u="none" strike="noStrike" cap="none" dirty="0">
                        <a:solidFill>
                          <a:schemeClr val="tx1"/>
                        </a:solidFill>
                        <a:latin typeface="+mn-lt"/>
                        <a:ea typeface="+mn-ea"/>
                        <a:cs typeface="+mn-cs"/>
                        <a:sym typeface="Arial"/>
                      </a:endParaRPr>
                    </a:p>
                  </a:txBody>
                  <a:tcPr marL="91425" marR="91425" marT="91425" marB="91425"/>
                </a:tc>
                <a:tc>
                  <a:txBody>
                    <a:bodyPr/>
                    <a:lstStyle/>
                    <a:p>
                      <a:pPr marL="0" lvl="0" indent="0" algn="l" rtl="0">
                        <a:spcBef>
                          <a:spcPts val="0"/>
                        </a:spcBef>
                        <a:spcAft>
                          <a:spcPts val="0"/>
                        </a:spcAft>
                        <a:buNone/>
                      </a:pPr>
                      <a:r>
                        <a:rPr lang="en" sz="1200" b="0" u="none" strike="noStrike" cap="none" dirty="0">
                          <a:solidFill>
                            <a:schemeClr val="tx1"/>
                          </a:solidFill>
                          <a:sym typeface="Arial"/>
                        </a:rPr>
                        <a:t>Synthesis and Physical Design</a:t>
                      </a:r>
                      <a:endParaRPr sz="1200" b="0" i="0" u="none" strike="noStrike" cap="none" dirty="0">
                        <a:solidFill>
                          <a:schemeClr val="tx1"/>
                        </a:solidFill>
                        <a:latin typeface="+mn-lt"/>
                        <a:ea typeface="+mn-ea"/>
                        <a:cs typeface="+mn-cs"/>
                        <a:sym typeface="Arial"/>
                      </a:endParaRPr>
                    </a:p>
                  </a:txBody>
                  <a:tcPr marL="91425" marR="91425" marT="91425" marB="91425"/>
                </a:tc>
                <a:extLst>
                  <a:ext uri="{0D108BD9-81ED-4DB2-BD59-A6C34878D82A}">
                    <a16:rowId xmlns:a16="http://schemas.microsoft.com/office/drawing/2014/main" val="10002"/>
                  </a:ext>
                </a:extLst>
              </a:tr>
              <a:tr h="276400">
                <a:tc>
                  <a:txBody>
                    <a:bodyPr/>
                    <a:lstStyle/>
                    <a:p>
                      <a:pPr marL="0" marR="0" lvl="0" indent="0" algn="l" rtl="0">
                        <a:lnSpc>
                          <a:spcPct val="100000"/>
                        </a:lnSpc>
                        <a:spcBef>
                          <a:spcPts val="0"/>
                        </a:spcBef>
                        <a:spcAft>
                          <a:spcPts val="0"/>
                        </a:spcAft>
                        <a:buClr>
                          <a:srgbClr val="000000"/>
                        </a:buClr>
                        <a:buFont typeface="Arial"/>
                        <a:buNone/>
                      </a:pPr>
                      <a:r>
                        <a:rPr lang="zh-CN" altLang="zh-CN" sz="1200" b="0" u="none" strike="noStrike" cap="none" dirty="0">
                          <a:solidFill>
                            <a:schemeClr val="tx1"/>
                          </a:solidFill>
                          <a:sym typeface="Arial"/>
                        </a:rPr>
                        <a:t>cissy07838</a:t>
                      </a:r>
                      <a:endParaRPr sz="1200" b="0" i="0" u="none" strike="noStrike" cap="none" dirty="0">
                        <a:solidFill>
                          <a:schemeClr val="tx1"/>
                        </a:solidFill>
                        <a:latin typeface="+mn-lt"/>
                        <a:ea typeface="+mn-ea"/>
                        <a:cs typeface="+mn-cs"/>
                        <a:sym typeface="Arial"/>
                      </a:endParaRPr>
                    </a:p>
                  </a:txBody>
                  <a:tcPr marL="91425" marR="91425" marT="91425" marB="91425"/>
                </a:tc>
                <a:tc>
                  <a:txBody>
                    <a:bodyPr/>
                    <a:lstStyle/>
                    <a:p>
                      <a:pPr marL="0" marR="0" lvl="0" indent="0" algn="l" rtl="0">
                        <a:lnSpc>
                          <a:spcPct val="100000"/>
                        </a:lnSpc>
                        <a:spcBef>
                          <a:spcPts val="0"/>
                        </a:spcBef>
                        <a:spcAft>
                          <a:spcPts val="0"/>
                        </a:spcAft>
                        <a:buClr>
                          <a:srgbClr val="000000"/>
                        </a:buClr>
                        <a:buFont typeface="Arial"/>
                        <a:buNone/>
                      </a:pPr>
                      <a:r>
                        <a:rPr lang="zh-CN" altLang="zh-CN" sz="1200" b="0" u="none" strike="noStrike" cap="none" dirty="0">
                          <a:solidFill>
                            <a:schemeClr val="tx1"/>
                          </a:solidFill>
                          <a:sym typeface="Arial"/>
                        </a:rPr>
                        <a:t>University of Southern California</a:t>
                      </a:r>
                      <a:endParaRPr sz="1200" b="0" i="0" u="none" strike="noStrike" cap="none" dirty="0">
                        <a:solidFill>
                          <a:schemeClr val="tx1"/>
                        </a:solidFill>
                        <a:latin typeface="+mn-lt"/>
                        <a:ea typeface="+mn-ea"/>
                        <a:cs typeface="+mn-cs"/>
                        <a:sym typeface="Arial"/>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100"/>
                        <a:buFont typeface="Arial"/>
                        <a:buNone/>
                      </a:pPr>
                      <a:r>
                        <a:rPr lang="en-US" altLang="zh-CN" sz="1200" b="0" u="none" strike="noStrike" cap="none" dirty="0">
                          <a:solidFill>
                            <a:schemeClr val="tx1"/>
                          </a:solidFill>
                          <a:sym typeface="Arial"/>
                        </a:rPr>
                        <a:t>P</a:t>
                      </a:r>
                      <a:r>
                        <a:rPr lang="zh-CN" altLang="zh-CN" sz="1200" b="0" u="none" strike="noStrike" cap="none" dirty="0">
                          <a:solidFill>
                            <a:schemeClr val="tx1"/>
                          </a:solidFill>
                          <a:sym typeface="Arial"/>
                        </a:rPr>
                        <a:t>ost-graduate</a:t>
                      </a:r>
                      <a:endParaRPr sz="1200" b="0" i="0" u="none" strike="noStrike" cap="none" dirty="0">
                        <a:solidFill>
                          <a:schemeClr val="tx1"/>
                        </a:solidFill>
                        <a:latin typeface="+mn-lt"/>
                        <a:ea typeface="+mn-ea"/>
                        <a:cs typeface="+mn-cs"/>
                        <a:sym typeface="Arial"/>
                      </a:endParaRPr>
                    </a:p>
                  </a:txBody>
                  <a:tcPr marL="91425" marR="91425" marT="91425" marB="91425"/>
                </a:tc>
                <a:tc>
                  <a:txBody>
                    <a:bodyPr/>
                    <a:lstStyle/>
                    <a:p>
                      <a:pPr marL="0" marR="0" lvl="0" indent="0" algn="l" rtl="0">
                        <a:lnSpc>
                          <a:spcPct val="100000"/>
                        </a:lnSpc>
                        <a:spcBef>
                          <a:spcPts val="0"/>
                        </a:spcBef>
                        <a:spcAft>
                          <a:spcPts val="0"/>
                        </a:spcAft>
                        <a:buClr>
                          <a:srgbClr val="000000"/>
                        </a:buClr>
                        <a:buFont typeface="Arial"/>
                        <a:buNone/>
                      </a:pPr>
                      <a:r>
                        <a:rPr lang="en" sz="1200" b="0" u="none" strike="noStrike" cap="none" dirty="0">
                          <a:solidFill>
                            <a:schemeClr val="tx1"/>
                          </a:solidFill>
                          <a:sym typeface="Arial"/>
                        </a:rPr>
                        <a:t>RTL Design</a:t>
                      </a:r>
                      <a:endParaRPr sz="1200" b="0" i="0" u="none" strike="noStrike" cap="none" dirty="0">
                        <a:solidFill>
                          <a:schemeClr val="tx1"/>
                        </a:solidFill>
                        <a:latin typeface="+mn-lt"/>
                        <a:ea typeface="+mn-ea"/>
                        <a:cs typeface="+mn-cs"/>
                        <a:sym typeface="Arial"/>
                      </a:endParaRPr>
                    </a:p>
                  </a:txBody>
                  <a:tcPr marL="91425" marR="91425" marT="91425" marB="91425"/>
                </a:tc>
                <a:extLst>
                  <a:ext uri="{0D108BD9-81ED-4DB2-BD59-A6C34878D82A}">
                    <a16:rowId xmlns:a16="http://schemas.microsoft.com/office/drawing/2014/main" val="3977497953"/>
                  </a:ext>
                </a:extLst>
              </a:tr>
              <a:tr h="276400">
                <a:tc>
                  <a:txBody>
                    <a:bodyPr/>
                    <a:lstStyle/>
                    <a:p>
                      <a:pPr marL="0" lvl="0" indent="0" algn="l" rtl="0">
                        <a:spcBef>
                          <a:spcPts val="0"/>
                        </a:spcBef>
                        <a:spcAft>
                          <a:spcPts val="0"/>
                        </a:spcAft>
                        <a:buNone/>
                      </a:pPr>
                      <a:r>
                        <a:rPr lang="zh-CN" altLang="zh-CN" sz="1200" b="0" u="none" strike="noStrike" cap="none" dirty="0">
                          <a:solidFill>
                            <a:schemeClr val="tx1"/>
                          </a:solidFill>
                          <a:sym typeface="Arial"/>
                        </a:rPr>
                        <a:t>sam092462</a:t>
                      </a:r>
                      <a:endParaRPr sz="1200" b="0" i="0" u="none" strike="noStrike" cap="none" dirty="0">
                        <a:solidFill>
                          <a:schemeClr val="tx1"/>
                        </a:solidFill>
                        <a:latin typeface="+mn-lt"/>
                        <a:ea typeface="+mn-ea"/>
                        <a:cs typeface="+mn-cs"/>
                        <a:sym typeface="Arial"/>
                      </a:endParaRPr>
                    </a:p>
                  </a:txBody>
                  <a:tcPr marL="91425" marR="91425" marT="91425" marB="91425"/>
                </a:tc>
                <a:tc>
                  <a:txBody>
                    <a:bodyPr/>
                    <a:lstStyle/>
                    <a:p>
                      <a:pPr marL="0" lvl="0" indent="0" algn="l" rtl="0">
                        <a:spcBef>
                          <a:spcPts val="0"/>
                        </a:spcBef>
                        <a:spcAft>
                          <a:spcPts val="0"/>
                        </a:spcAft>
                        <a:buNone/>
                      </a:pPr>
                      <a:r>
                        <a:rPr lang="zh-CN" altLang="zh-CN" sz="1200" b="0" u="none" strike="noStrike" cap="none" dirty="0">
                          <a:solidFill>
                            <a:schemeClr val="tx1"/>
                          </a:solidFill>
                          <a:sym typeface="Arial"/>
                        </a:rPr>
                        <a:t>University of Massachusetts Amherst</a:t>
                      </a:r>
                      <a:endParaRPr sz="1200" b="0" i="0" u="none" strike="noStrike" cap="none" dirty="0">
                        <a:solidFill>
                          <a:schemeClr val="tx1"/>
                        </a:solidFill>
                        <a:latin typeface="+mn-lt"/>
                        <a:ea typeface="+mn-ea"/>
                        <a:cs typeface="+mn-cs"/>
                        <a:sym typeface="Aria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zh-CN" altLang="zh-CN" sz="1200" b="0" u="none" strike="noStrike" cap="none" dirty="0">
                          <a:solidFill>
                            <a:schemeClr val="tx1"/>
                          </a:solidFill>
                          <a:sym typeface="Arial"/>
                        </a:rPr>
                        <a:t>Master graduate</a:t>
                      </a:r>
                      <a:endParaRPr sz="1200" b="0" i="0" u="none" strike="noStrike" cap="none" dirty="0">
                        <a:solidFill>
                          <a:schemeClr val="tx1"/>
                        </a:solidFill>
                        <a:latin typeface="+mn-lt"/>
                        <a:ea typeface="+mn-ea"/>
                        <a:cs typeface="+mn-cs"/>
                        <a:sym typeface="Arial"/>
                      </a:endParaRPr>
                    </a:p>
                  </a:txBody>
                  <a:tcPr marL="91425" marR="91425" marT="91425" marB="91425"/>
                </a:tc>
                <a:tc>
                  <a:txBody>
                    <a:bodyPr/>
                    <a:lstStyle/>
                    <a:p>
                      <a:pPr marL="0" lvl="0" indent="0" algn="l" rtl="0">
                        <a:spcBef>
                          <a:spcPts val="0"/>
                        </a:spcBef>
                        <a:spcAft>
                          <a:spcPts val="0"/>
                        </a:spcAft>
                        <a:buNone/>
                      </a:pPr>
                      <a:r>
                        <a:rPr lang="en-US" altLang="zh-CN" sz="1200" b="0" u="none" strike="noStrike" cap="none" dirty="0">
                          <a:solidFill>
                            <a:schemeClr val="tx1"/>
                          </a:solidFill>
                          <a:sym typeface="Arial"/>
                        </a:rPr>
                        <a:t>Physical Design</a:t>
                      </a:r>
                      <a:endParaRPr lang="en-US" altLang="zh-CN" sz="1200" b="0" i="0" u="none" strike="noStrike" cap="none" dirty="0">
                        <a:solidFill>
                          <a:schemeClr val="tx1"/>
                        </a:solidFill>
                        <a:latin typeface="+mn-lt"/>
                        <a:ea typeface="+mn-ea"/>
                        <a:cs typeface="+mn-cs"/>
                        <a:sym typeface="Arial"/>
                      </a:endParaRPr>
                    </a:p>
                  </a:txBody>
                  <a:tcPr marL="91425" marR="91425" marT="91425" marB="91425"/>
                </a:tc>
                <a:extLst>
                  <a:ext uri="{0D108BD9-81ED-4DB2-BD59-A6C34878D82A}">
                    <a16:rowId xmlns:a16="http://schemas.microsoft.com/office/drawing/2014/main" val="10004"/>
                  </a:ext>
                </a:extLst>
              </a:tr>
              <a:tr h="276400">
                <a:tc>
                  <a:txBody>
                    <a:bodyPr/>
                    <a:lstStyle/>
                    <a:p>
                      <a:pPr marL="0" lvl="0" indent="0" algn="l" rtl="0">
                        <a:spcBef>
                          <a:spcPts val="0"/>
                        </a:spcBef>
                        <a:spcAft>
                          <a:spcPts val="0"/>
                        </a:spcAft>
                        <a:buNone/>
                      </a:pPr>
                      <a:r>
                        <a:rPr lang="zh-CN" altLang="zh-CN" sz="1200" b="0" u="none" strike="noStrike" cap="none" dirty="0">
                          <a:solidFill>
                            <a:schemeClr val="tx1"/>
                          </a:solidFill>
                          <a:sym typeface="Arial"/>
                        </a:rPr>
                        <a:t>director_sun</a:t>
                      </a:r>
                      <a:endParaRPr sz="1200" b="0" i="0" u="none" strike="noStrike" cap="none" dirty="0">
                        <a:solidFill>
                          <a:schemeClr val="tx1"/>
                        </a:solidFill>
                        <a:latin typeface="+mn-lt"/>
                        <a:ea typeface="+mn-ea"/>
                        <a:cs typeface="+mn-cs"/>
                        <a:sym typeface="Arial"/>
                      </a:endParaRPr>
                    </a:p>
                  </a:txBody>
                  <a:tcPr marL="91425" marR="91425" marT="91425" marB="91425"/>
                </a:tc>
                <a:tc>
                  <a:txBody>
                    <a:bodyPr/>
                    <a:lstStyle/>
                    <a:p>
                      <a:pPr marL="0" lvl="0" indent="0" algn="l" rtl="0">
                        <a:spcBef>
                          <a:spcPts val="0"/>
                        </a:spcBef>
                        <a:spcAft>
                          <a:spcPts val="0"/>
                        </a:spcAft>
                        <a:buNone/>
                      </a:pPr>
                      <a:r>
                        <a:rPr lang="zh-CN" altLang="zh-CN" sz="1200" b="0" u="none" strike="noStrike" cap="none" dirty="0">
                          <a:solidFill>
                            <a:schemeClr val="tx1"/>
                          </a:solidFill>
                          <a:sym typeface="Arial"/>
                        </a:rPr>
                        <a:t>Cornell University</a:t>
                      </a:r>
                      <a:endParaRPr sz="1200" b="0" i="0" u="none" strike="noStrike" cap="none" dirty="0">
                        <a:solidFill>
                          <a:schemeClr val="tx1"/>
                        </a:solidFill>
                        <a:latin typeface="+mn-lt"/>
                        <a:ea typeface="+mn-ea"/>
                        <a:cs typeface="+mn-cs"/>
                        <a:sym typeface="Aria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zh-CN" altLang="zh-CN" sz="1200" b="0" u="none" strike="noStrike" cap="none" dirty="0">
                          <a:solidFill>
                            <a:schemeClr val="tx1"/>
                          </a:solidFill>
                          <a:sym typeface="Arial"/>
                        </a:rPr>
                        <a:t>Master graduate</a:t>
                      </a:r>
                      <a:endParaRPr sz="1200" b="0" i="0" u="none" strike="noStrike" cap="none" dirty="0">
                        <a:solidFill>
                          <a:schemeClr val="tx1"/>
                        </a:solidFill>
                        <a:latin typeface="+mn-lt"/>
                        <a:ea typeface="+mn-ea"/>
                        <a:cs typeface="+mn-cs"/>
                        <a:sym typeface="Arial"/>
                      </a:endParaRPr>
                    </a:p>
                  </a:txBody>
                  <a:tcPr marL="91425" marR="91425" marT="91425" marB="91425"/>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altLang="zh-CN" sz="1200" b="0" u="none" strike="noStrike" cap="none" dirty="0">
                          <a:solidFill>
                            <a:schemeClr val="tx1"/>
                          </a:solidFill>
                          <a:sym typeface="Arial"/>
                        </a:rPr>
                        <a:t>RTL2GDS Flow Study</a:t>
                      </a:r>
                      <a:endParaRPr lang="en-US" altLang="zh-CN" sz="1200" b="0" i="0" u="none" strike="noStrike" cap="none" dirty="0">
                        <a:solidFill>
                          <a:schemeClr val="tx1"/>
                        </a:solidFill>
                        <a:latin typeface="+mn-lt"/>
                        <a:ea typeface="+mn-ea"/>
                        <a:cs typeface="+mn-cs"/>
                        <a:sym typeface="Arial"/>
                      </a:endParaRPr>
                    </a:p>
                  </a:txBody>
                  <a:tcPr marL="91425" marR="91425" marT="91425" marB="91425"/>
                </a:tc>
                <a:extLst>
                  <a:ext uri="{0D108BD9-81ED-4DB2-BD59-A6C34878D82A}">
                    <a16:rowId xmlns:a16="http://schemas.microsoft.com/office/drawing/2014/main" val="1562857689"/>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89">
          <a:extLst>
            <a:ext uri="{FF2B5EF4-FFF2-40B4-BE49-F238E27FC236}">
              <a16:creationId xmlns:a16="http://schemas.microsoft.com/office/drawing/2014/main" id="{485F5986-2237-522E-A12D-73AA0304DF3F}"/>
            </a:ext>
          </a:extLst>
        </p:cNvPr>
        <p:cNvGrpSpPr/>
        <p:nvPr/>
      </p:nvGrpSpPr>
      <p:grpSpPr>
        <a:xfrm>
          <a:off x="0" y="0"/>
          <a:ext cx="0" cy="0"/>
          <a:chOff x="0" y="0"/>
          <a:chExt cx="0" cy="0"/>
        </a:xfrm>
      </p:grpSpPr>
      <p:sp>
        <p:nvSpPr>
          <p:cNvPr id="390" name="Google Shape;390;p81">
            <a:extLst>
              <a:ext uri="{FF2B5EF4-FFF2-40B4-BE49-F238E27FC236}">
                <a16:creationId xmlns:a16="http://schemas.microsoft.com/office/drawing/2014/main" id="{62264F75-EE9D-5600-315E-4254B6B7D69D}"/>
              </a:ext>
            </a:extLst>
          </p:cNvPr>
          <p:cNvSpPr txBox="1">
            <a:spLocks noGrp="1"/>
          </p:cNvSpPr>
          <p:nvPr>
            <p:ph type="body" idx="1"/>
          </p:nvPr>
        </p:nvSpPr>
        <p:spPr>
          <a:xfrm>
            <a:off x="352425" y="254056"/>
            <a:ext cx="2839800" cy="583500"/>
          </a:xfrm>
          <a:prstGeom prst="rect">
            <a:avLst/>
          </a:prstGeom>
        </p:spPr>
        <p:txBody>
          <a:bodyPr spcFirstLastPara="1" wrap="square" lIns="68575" tIns="34275" rIns="68575" bIns="34275" anchor="b" anchorCtr="0">
            <a:noAutofit/>
          </a:bodyPr>
          <a:lstStyle/>
          <a:p>
            <a:pPr marL="0" lvl="0" indent="0" algn="ctr" rtl="0">
              <a:spcBef>
                <a:spcPts val="300"/>
              </a:spcBef>
              <a:spcAft>
                <a:spcPts val="0"/>
              </a:spcAft>
              <a:buNone/>
            </a:pPr>
            <a:r>
              <a:rPr lang="en" sz="2400" b="1" dirty="0"/>
              <a:t>Design Objectives</a:t>
            </a:r>
            <a:endParaRPr sz="2400" b="1" dirty="0"/>
          </a:p>
        </p:txBody>
      </p:sp>
      <p:sp>
        <p:nvSpPr>
          <p:cNvPr id="392" name="Google Shape;392;p81">
            <a:extLst>
              <a:ext uri="{FF2B5EF4-FFF2-40B4-BE49-F238E27FC236}">
                <a16:creationId xmlns:a16="http://schemas.microsoft.com/office/drawing/2014/main" id="{1A0571B0-8945-B587-D0F3-2893E3BC6C48}"/>
              </a:ext>
            </a:extLst>
          </p:cNvPr>
          <p:cNvSpPr txBox="1"/>
          <p:nvPr/>
        </p:nvSpPr>
        <p:spPr>
          <a:xfrm>
            <a:off x="98323" y="776103"/>
            <a:ext cx="5258589" cy="1262987"/>
          </a:xfrm>
          <a:prstGeom prst="rect">
            <a:avLst/>
          </a:prstGeom>
          <a:noFill/>
          <a:ln>
            <a:noFill/>
          </a:ln>
        </p:spPr>
        <p:txBody>
          <a:bodyPr spcFirstLastPara="1" wrap="square" lIns="91425" tIns="91425" rIns="91425" bIns="91425" anchor="t" anchorCtr="0">
            <a:noAutofit/>
          </a:bodyPr>
          <a:lstStyle/>
          <a:p>
            <a:pPr lvl="0"/>
            <a:r>
              <a:rPr lang="zh-CN" altLang="zh-CN" sz="1200" b="1" i="1" dirty="0">
                <a:solidFill>
                  <a:schemeClr val="accent1">
                    <a:lumMod val="75000"/>
                  </a:schemeClr>
                </a:solidFill>
              </a:rPr>
              <a:t>Build a compact GF180 digital accelerator prototype for quantized LSTM inference using a small SRAM buffer and reused MAC datapath.</a:t>
            </a:r>
            <a:endParaRPr sz="1300" b="1" i="1" dirty="0">
              <a:solidFill>
                <a:schemeClr val="accent1">
                  <a:lumMod val="75000"/>
                </a:schemeClr>
              </a:solidFill>
            </a:endParaRPr>
          </a:p>
        </p:txBody>
      </p:sp>
      <p:sp>
        <p:nvSpPr>
          <p:cNvPr id="394" name="Google Shape;394;p81">
            <a:extLst>
              <a:ext uri="{FF2B5EF4-FFF2-40B4-BE49-F238E27FC236}">
                <a16:creationId xmlns:a16="http://schemas.microsoft.com/office/drawing/2014/main" id="{95D2E57A-8DDD-219A-30C9-E53DDD271D84}"/>
              </a:ext>
            </a:extLst>
          </p:cNvPr>
          <p:cNvSpPr txBox="1"/>
          <p:nvPr/>
        </p:nvSpPr>
        <p:spPr>
          <a:xfrm>
            <a:off x="5966644" y="768801"/>
            <a:ext cx="2986200" cy="32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dirty="0"/>
              <a:t>Target Specifications</a:t>
            </a:r>
            <a:endParaRPr b="1" dirty="0"/>
          </a:p>
        </p:txBody>
      </p:sp>
      <p:graphicFrame>
        <p:nvGraphicFramePr>
          <p:cNvPr id="396" name="Google Shape;396;p81">
            <a:extLst>
              <a:ext uri="{FF2B5EF4-FFF2-40B4-BE49-F238E27FC236}">
                <a16:creationId xmlns:a16="http://schemas.microsoft.com/office/drawing/2014/main" id="{ECDE75BF-B182-3539-A3EF-DFC9F0D7CAF3}"/>
              </a:ext>
            </a:extLst>
          </p:cNvPr>
          <p:cNvGraphicFramePr/>
          <p:nvPr>
            <p:extLst>
              <p:ext uri="{D42A27DB-BD31-4B8C-83A1-F6EECF244321}">
                <p14:modId xmlns:p14="http://schemas.microsoft.com/office/powerpoint/2010/main" val="1357927030"/>
              </p:ext>
            </p:extLst>
          </p:nvPr>
        </p:nvGraphicFramePr>
        <p:xfrm>
          <a:off x="5288350" y="1206929"/>
          <a:ext cx="3550849" cy="3179315"/>
        </p:xfrm>
        <a:graphic>
          <a:graphicData uri="http://schemas.openxmlformats.org/drawingml/2006/table">
            <a:tbl>
              <a:tblPr>
                <a:tableStyleId>{3CE9ADDB-3E52-4110-924A-337BC88D7030}</a:tableStyleId>
              </a:tblPr>
              <a:tblGrid>
                <a:gridCol w="1728125">
                  <a:extLst>
                    <a:ext uri="{9D8B030D-6E8A-4147-A177-3AD203B41FA5}">
                      <a16:colId xmlns:a16="http://schemas.microsoft.com/office/drawing/2014/main" val="20000"/>
                    </a:ext>
                  </a:extLst>
                </a:gridCol>
                <a:gridCol w="1822724">
                  <a:extLst>
                    <a:ext uri="{9D8B030D-6E8A-4147-A177-3AD203B41FA5}">
                      <a16:colId xmlns:a16="http://schemas.microsoft.com/office/drawing/2014/main" val="20001"/>
                    </a:ext>
                  </a:extLst>
                </a:gridCol>
              </a:tblGrid>
              <a:tr h="375815">
                <a:tc>
                  <a:txBody>
                    <a:bodyPr/>
                    <a:lstStyle/>
                    <a:p>
                      <a:pPr marL="0" lvl="0" indent="0" algn="ctr" rtl="0">
                        <a:spcBef>
                          <a:spcPts val="0"/>
                        </a:spcBef>
                        <a:spcAft>
                          <a:spcPts val="0"/>
                        </a:spcAft>
                        <a:buNone/>
                      </a:pPr>
                      <a:r>
                        <a:rPr lang="en" sz="1200" dirty="0"/>
                        <a:t>Parameters</a:t>
                      </a:r>
                      <a:endParaRPr sz="1200" dirty="0"/>
                    </a:p>
                  </a:txBody>
                  <a:tcPr marL="91425" marR="91425" marT="91425" marB="91425" anchor="ctr"/>
                </a:tc>
                <a:tc>
                  <a:txBody>
                    <a:bodyPr/>
                    <a:lstStyle/>
                    <a:p>
                      <a:pPr marL="0" lvl="0" indent="0" algn="ctr" rtl="0">
                        <a:spcBef>
                          <a:spcPts val="0"/>
                        </a:spcBef>
                        <a:spcAft>
                          <a:spcPts val="0"/>
                        </a:spcAft>
                        <a:buNone/>
                      </a:pPr>
                      <a:r>
                        <a:rPr lang="en" sz="1200"/>
                        <a:t>Specifications</a:t>
                      </a:r>
                      <a:endParaRPr sz="1200"/>
                    </a:p>
                  </a:txBody>
                  <a:tcPr marL="91425" marR="91425" marT="91425" marB="91425" anchor="ctr"/>
                </a:tc>
                <a:extLst>
                  <a:ext uri="{0D108BD9-81ED-4DB2-BD59-A6C34878D82A}">
                    <a16:rowId xmlns:a16="http://schemas.microsoft.com/office/drawing/2014/main" val="10000"/>
                  </a:ext>
                </a:extLst>
              </a:tr>
              <a:tr h="375815">
                <a:tc>
                  <a:txBody>
                    <a:bodyPr/>
                    <a:lstStyle/>
                    <a:p>
                      <a:pPr marL="0" lvl="0" indent="0" algn="ctr" rtl="0">
                        <a:spcBef>
                          <a:spcPts val="0"/>
                        </a:spcBef>
                        <a:spcAft>
                          <a:spcPts val="0"/>
                        </a:spcAft>
                        <a:buNone/>
                      </a:pPr>
                      <a:r>
                        <a:rPr lang="en" sz="1200" dirty="0"/>
                        <a:t> Area </a:t>
                      </a:r>
                      <a:endParaRPr sz="1200" dirty="0"/>
                    </a:p>
                  </a:txBody>
                  <a:tcPr marL="91425" marR="91425" marT="91425" marB="91425" anchor="ctr"/>
                </a:tc>
                <a:tc>
                  <a:txBody>
                    <a:bodyPr/>
                    <a:lstStyle/>
                    <a:p>
                      <a:pPr marL="0" lvl="0" indent="0" algn="ctr" rtl="0">
                        <a:spcBef>
                          <a:spcPts val="0"/>
                        </a:spcBef>
                        <a:spcAft>
                          <a:spcPts val="0"/>
                        </a:spcAft>
                        <a:buNone/>
                      </a:pPr>
                      <a:r>
                        <a:rPr lang="en" sz="1200" dirty="0"/>
                        <a:t>Block A (1100x1100um)</a:t>
                      </a:r>
                      <a:endParaRPr sz="1200" dirty="0"/>
                    </a:p>
                  </a:txBody>
                  <a:tcPr marL="91425" marR="91425" marT="91425" marB="91425" anchor="ctr"/>
                </a:tc>
                <a:extLst>
                  <a:ext uri="{0D108BD9-81ED-4DB2-BD59-A6C34878D82A}">
                    <a16:rowId xmlns:a16="http://schemas.microsoft.com/office/drawing/2014/main" val="10001"/>
                  </a:ext>
                </a:extLst>
              </a:tr>
              <a:tr h="375815">
                <a:tc>
                  <a:txBody>
                    <a:bodyPr/>
                    <a:lstStyle/>
                    <a:p>
                      <a:pPr marL="0" lvl="0" indent="0" algn="ctr" rtl="0">
                        <a:spcBef>
                          <a:spcPts val="0"/>
                        </a:spcBef>
                        <a:spcAft>
                          <a:spcPts val="0"/>
                        </a:spcAft>
                        <a:buNone/>
                      </a:pPr>
                      <a:r>
                        <a:rPr lang="en" sz="1200" dirty="0"/>
                        <a:t>Precision</a:t>
                      </a:r>
                      <a:endParaRPr sz="1200" dirty="0"/>
                    </a:p>
                  </a:txBody>
                  <a:tcPr marL="91425" marR="91425" marT="91425" marB="91425" anchor="ctr"/>
                </a:tc>
                <a:tc>
                  <a:txBody>
                    <a:bodyPr/>
                    <a:lstStyle/>
                    <a:p>
                      <a:pPr marL="0" lvl="0" indent="0" algn="ctr" rtl="0">
                        <a:spcBef>
                          <a:spcPts val="0"/>
                        </a:spcBef>
                        <a:spcAft>
                          <a:spcPts val="0"/>
                        </a:spcAft>
                        <a:buNone/>
                      </a:pPr>
                      <a:r>
                        <a:rPr lang="en" sz="1200" dirty="0"/>
                        <a:t>INT8</a:t>
                      </a:r>
                      <a:endParaRPr sz="1200" dirty="0"/>
                    </a:p>
                  </a:txBody>
                  <a:tcPr marL="91425" marR="91425" marT="91425" marB="91425" anchor="ctr"/>
                </a:tc>
                <a:extLst>
                  <a:ext uri="{0D108BD9-81ED-4DB2-BD59-A6C34878D82A}">
                    <a16:rowId xmlns:a16="http://schemas.microsoft.com/office/drawing/2014/main" val="10002"/>
                  </a:ext>
                </a:extLst>
              </a:tr>
              <a:tr h="375815">
                <a:tc>
                  <a:txBody>
                    <a:bodyPr/>
                    <a:lstStyle/>
                    <a:p>
                      <a:pPr marL="0" lvl="0" indent="0" algn="ctr" rtl="0">
                        <a:spcBef>
                          <a:spcPts val="0"/>
                        </a:spcBef>
                        <a:spcAft>
                          <a:spcPts val="0"/>
                        </a:spcAft>
                        <a:buNone/>
                      </a:pPr>
                      <a:r>
                        <a:rPr lang="en" sz="1200" dirty="0">
                          <a:solidFill>
                            <a:schemeClr val="dk1"/>
                          </a:solidFill>
                        </a:rPr>
                        <a:t>Target clk</a:t>
                      </a:r>
                      <a:endParaRPr sz="1200" dirty="0"/>
                    </a:p>
                  </a:txBody>
                  <a:tcPr marL="91425" marR="91425" marT="91425" marB="91425" anchor="ctr"/>
                </a:tc>
                <a:tc>
                  <a:txBody>
                    <a:bodyPr/>
                    <a:lstStyle/>
                    <a:p>
                      <a:pPr marL="0" lvl="0" indent="0" algn="ctr" rtl="0">
                        <a:spcBef>
                          <a:spcPts val="0"/>
                        </a:spcBef>
                        <a:spcAft>
                          <a:spcPts val="0"/>
                        </a:spcAft>
                        <a:buNone/>
                      </a:pPr>
                      <a:r>
                        <a:rPr lang="en" sz="1200" dirty="0"/>
                        <a:t>50 Mhz</a:t>
                      </a:r>
                      <a:endParaRPr sz="1200" dirty="0"/>
                    </a:p>
                  </a:txBody>
                  <a:tcPr marL="91425" marR="91425" marT="91425" marB="91425" anchor="ctr"/>
                </a:tc>
                <a:extLst>
                  <a:ext uri="{0D108BD9-81ED-4DB2-BD59-A6C34878D82A}">
                    <a16:rowId xmlns:a16="http://schemas.microsoft.com/office/drawing/2014/main" val="10003"/>
                  </a:ext>
                </a:extLst>
              </a:tr>
              <a:tr h="375815">
                <a:tc>
                  <a:txBody>
                    <a:bodyPr/>
                    <a:lstStyle/>
                    <a:p>
                      <a:pPr marL="0" lvl="0" indent="0" algn="ctr" rtl="0">
                        <a:spcBef>
                          <a:spcPts val="0"/>
                        </a:spcBef>
                        <a:spcAft>
                          <a:spcPts val="0"/>
                        </a:spcAft>
                        <a:buNone/>
                      </a:pPr>
                      <a:r>
                        <a:rPr lang="en" sz="1200" dirty="0"/>
                        <a:t>Precision</a:t>
                      </a:r>
                      <a:endParaRPr sz="1200" dirty="0"/>
                    </a:p>
                  </a:txBody>
                  <a:tcPr marL="91425" marR="91425" marT="91425" marB="91425" anchor="ctr"/>
                </a:tc>
                <a:tc>
                  <a:txBody>
                    <a:bodyPr/>
                    <a:lstStyle/>
                    <a:p>
                      <a:pPr marL="0" lvl="0" indent="0" algn="ctr" rtl="0">
                        <a:spcBef>
                          <a:spcPts val="0"/>
                        </a:spcBef>
                        <a:spcAft>
                          <a:spcPts val="0"/>
                        </a:spcAft>
                        <a:buNone/>
                      </a:pPr>
                      <a:r>
                        <a:rPr lang="en" sz="1200" dirty="0"/>
                        <a:t>Q1.7 Fixed point</a:t>
                      </a:r>
                      <a:endParaRPr sz="1200" dirty="0"/>
                    </a:p>
                  </a:txBody>
                  <a:tcPr marL="91425" marR="91425" marT="91425" marB="91425" anchor="ctr"/>
                </a:tc>
                <a:extLst>
                  <a:ext uri="{0D108BD9-81ED-4DB2-BD59-A6C34878D82A}">
                    <a16:rowId xmlns:a16="http://schemas.microsoft.com/office/drawing/2014/main" val="10004"/>
                  </a:ext>
                </a:extLst>
              </a:tr>
              <a:tr h="375815">
                <a:tc>
                  <a:txBody>
                    <a:bodyPr/>
                    <a:lstStyle/>
                    <a:p>
                      <a:pPr marL="0" lvl="0" indent="0" algn="ctr" rtl="0">
                        <a:spcBef>
                          <a:spcPts val="0"/>
                        </a:spcBef>
                        <a:spcAft>
                          <a:spcPts val="0"/>
                        </a:spcAft>
                        <a:buNone/>
                      </a:pPr>
                      <a:r>
                        <a:rPr lang="en-US" sz="1200" dirty="0"/>
                        <a:t>I</a:t>
                      </a:r>
                      <a:r>
                        <a:rPr lang="en" sz="1200" dirty="0"/>
                        <a:t>nput pin </a:t>
                      </a:r>
                      <a:endParaRPr sz="1200" dirty="0"/>
                    </a:p>
                  </a:txBody>
                  <a:tcPr marL="91425" marR="91425" marT="91425" marB="91425" anchor="ctr"/>
                </a:tc>
                <a:tc>
                  <a:txBody>
                    <a:bodyPr/>
                    <a:lstStyle/>
                    <a:p>
                      <a:pPr marL="0" lvl="0" indent="0" algn="ctr" rtl="0">
                        <a:spcBef>
                          <a:spcPts val="0"/>
                        </a:spcBef>
                        <a:spcAft>
                          <a:spcPts val="0"/>
                        </a:spcAft>
                        <a:buNone/>
                      </a:pPr>
                      <a:r>
                        <a:rPr lang="en" sz="1200" dirty="0"/>
                        <a:t>12</a:t>
                      </a:r>
                      <a:endParaRPr sz="1200" dirty="0"/>
                    </a:p>
                  </a:txBody>
                  <a:tcPr marL="91425" marR="91425" marT="91425" marB="91425" anchor="ctr"/>
                </a:tc>
                <a:extLst>
                  <a:ext uri="{0D108BD9-81ED-4DB2-BD59-A6C34878D82A}">
                    <a16:rowId xmlns:a16="http://schemas.microsoft.com/office/drawing/2014/main" val="10005"/>
                  </a:ext>
                </a:extLst>
              </a:tr>
              <a:tr h="375815">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CN" sz="1200" dirty="0"/>
                        <a:t>Output pin</a:t>
                      </a:r>
                    </a:p>
                  </a:txBody>
                  <a:tcPr marL="91425" marR="91425" marT="91425" marB="91425" anchor="ctr"/>
                </a:tc>
                <a:tc>
                  <a:txBody>
                    <a:bodyPr/>
                    <a:lstStyle/>
                    <a:p>
                      <a:pPr marL="0" lvl="0" indent="0" algn="ctr" rtl="0">
                        <a:spcBef>
                          <a:spcPts val="0"/>
                        </a:spcBef>
                        <a:spcAft>
                          <a:spcPts val="0"/>
                        </a:spcAft>
                        <a:buNone/>
                      </a:pPr>
                      <a:r>
                        <a:rPr lang="en-US" sz="1200" dirty="0"/>
                        <a:t>2</a:t>
                      </a:r>
                      <a:endParaRPr sz="1200" dirty="0"/>
                    </a:p>
                  </a:txBody>
                  <a:tcPr marL="91425" marR="91425" marT="91425" marB="91425" anchor="ctr"/>
                </a:tc>
                <a:extLst>
                  <a:ext uri="{0D108BD9-81ED-4DB2-BD59-A6C34878D82A}">
                    <a16:rowId xmlns:a16="http://schemas.microsoft.com/office/drawing/2014/main" val="572559736"/>
                  </a:ext>
                </a:extLst>
              </a:tr>
              <a:tr h="375815">
                <a:tc>
                  <a:txBody>
                    <a:bodyPr/>
                    <a:lstStyle/>
                    <a:p>
                      <a:pPr marL="0" lvl="0" indent="0" algn="ctr" rtl="0">
                        <a:spcBef>
                          <a:spcPts val="0"/>
                        </a:spcBef>
                        <a:spcAft>
                          <a:spcPts val="0"/>
                        </a:spcAft>
                        <a:buNone/>
                      </a:pPr>
                      <a:r>
                        <a:rPr lang="en-US" sz="1200" dirty="0" err="1"/>
                        <a:t>InOut</a:t>
                      </a:r>
                      <a:r>
                        <a:rPr lang="en-US" sz="1200" dirty="0"/>
                        <a:t> pin</a:t>
                      </a:r>
                      <a:endParaRPr sz="1200" dirty="0"/>
                    </a:p>
                  </a:txBody>
                  <a:tcPr marL="91425" marR="91425" marT="91425" marB="91425" anchor="ctr"/>
                </a:tc>
                <a:tc>
                  <a:txBody>
                    <a:bodyPr/>
                    <a:lstStyle/>
                    <a:p>
                      <a:pPr marL="0" lvl="0" indent="0" algn="ctr" rtl="0">
                        <a:spcBef>
                          <a:spcPts val="0"/>
                        </a:spcBef>
                        <a:spcAft>
                          <a:spcPts val="0"/>
                        </a:spcAft>
                        <a:buNone/>
                      </a:pPr>
                      <a:r>
                        <a:rPr lang="en-US" sz="1200" dirty="0"/>
                        <a:t>8 (used to be separate in and out data bus)</a:t>
                      </a:r>
                      <a:endParaRPr sz="1200" dirty="0"/>
                    </a:p>
                  </a:txBody>
                  <a:tcPr marL="91425" marR="91425" marT="91425" marB="91425" anchor="ctr"/>
                </a:tc>
                <a:extLst>
                  <a:ext uri="{0D108BD9-81ED-4DB2-BD59-A6C34878D82A}">
                    <a16:rowId xmlns:a16="http://schemas.microsoft.com/office/drawing/2014/main" val="373022786"/>
                  </a:ext>
                </a:extLst>
              </a:tr>
            </a:tbl>
          </a:graphicData>
        </a:graphic>
      </p:graphicFrame>
      <p:sp>
        <p:nvSpPr>
          <p:cNvPr id="3" name="TextBox 2">
            <a:extLst>
              <a:ext uri="{FF2B5EF4-FFF2-40B4-BE49-F238E27FC236}">
                <a16:creationId xmlns:a16="http://schemas.microsoft.com/office/drawing/2014/main" id="{220A66A0-0094-F3D3-DA7D-F5CE3C363AB7}"/>
              </a:ext>
            </a:extLst>
          </p:cNvPr>
          <p:cNvSpPr txBox="1"/>
          <p:nvPr/>
        </p:nvSpPr>
        <p:spPr>
          <a:xfrm>
            <a:off x="90465" y="1449468"/>
            <a:ext cx="5197885" cy="2637710"/>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zh-CN" altLang="zh-CN" dirty="0"/>
              <a:t>Implement a small quantized LSTM datapath in RTL. Use INT8 input, weights and gate outputs. </a:t>
            </a:r>
            <a:endParaRPr lang="en-US" altLang="zh-CN" dirty="0"/>
          </a:p>
          <a:p>
            <a:pPr marL="285750" indent="-285750">
              <a:lnSpc>
                <a:spcPct val="150000"/>
              </a:lnSpc>
              <a:buFont typeface="Wingdings" panose="05000000000000000000" pitchFamily="2" charset="2"/>
              <a:buChar char="Ø"/>
            </a:pPr>
            <a:r>
              <a:rPr lang="zh-CN" altLang="zh-CN" dirty="0"/>
              <a:t>Use a shared MAC datapath to reduce area. </a:t>
            </a:r>
            <a:endParaRPr lang="en-US" altLang="zh-CN" dirty="0"/>
          </a:p>
          <a:p>
            <a:pPr marL="285750" indent="-285750">
              <a:lnSpc>
                <a:spcPct val="150000"/>
              </a:lnSpc>
              <a:buFont typeface="Wingdings" panose="05000000000000000000" pitchFamily="2" charset="2"/>
              <a:buChar char="Ø"/>
            </a:pPr>
            <a:r>
              <a:rPr lang="zh-CN" altLang="zh-CN" dirty="0"/>
              <a:t>Store intermediate data and weights in a small SRAM buffer. </a:t>
            </a:r>
            <a:endParaRPr lang="en-US" altLang="zh-CN" dirty="0"/>
          </a:p>
          <a:p>
            <a:pPr marL="285750" indent="-285750">
              <a:lnSpc>
                <a:spcPct val="150000"/>
              </a:lnSpc>
              <a:buFont typeface="Wingdings" panose="05000000000000000000" pitchFamily="2" charset="2"/>
              <a:buChar char="Ø"/>
            </a:pPr>
            <a:r>
              <a:rPr lang="zh-CN" altLang="zh-CN" dirty="0"/>
              <a:t>Verify hardware output against a Python golden model. </a:t>
            </a:r>
            <a:endParaRPr lang="en-US" altLang="zh-CN" dirty="0"/>
          </a:p>
          <a:p>
            <a:pPr marL="285750" indent="-285750">
              <a:lnSpc>
                <a:spcPct val="150000"/>
              </a:lnSpc>
              <a:buFont typeface="Wingdings" panose="05000000000000000000" pitchFamily="2" charset="2"/>
              <a:buChar char="Ø"/>
            </a:pPr>
            <a:r>
              <a:rPr lang="zh-CN" altLang="zh-CN" dirty="0"/>
              <a:t>The final LSTM outputs are stored in SRAM, not directly exposed as output pins.</a:t>
            </a:r>
            <a:r>
              <a:rPr lang="en-US" altLang="zh-CN" dirty="0"/>
              <a:t> (</a:t>
            </a:r>
            <a:r>
              <a:rPr lang="zh-CN" altLang="zh-CN" dirty="0"/>
              <a:t>Power/ground pins: VDD and VSS are added separately</a:t>
            </a:r>
            <a:r>
              <a:rPr lang="en-US" altLang="zh-CN" dirty="0"/>
              <a:t>)</a:t>
            </a:r>
            <a:endParaRPr lang="zh-CN" altLang="en-US" dirty="0"/>
          </a:p>
        </p:txBody>
      </p:sp>
    </p:spTree>
    <p:extLst>
      <p:ext uri="{BB962C8B-B14F-4D97-AF65-F5344CB8AC3E}">
        <p14:creationId xmlns:p14="http://schemas.microsoft.com/office/powerpoint/2010/main" val="12822877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89">
          <a:extLst>
            <a:ext uri="{FF2B5EF4-FFF2-40B4-BE49-F238E27FC236}">
              <a16:creationId xmlns:a16="http://schemas.microsoft.com/office/drawing/2014/main" id="{12B5A8C4-2838-457D-8A27-FBF11B5E36F1}"/>
            </a:ext>
          </a:extLst>
        </p:cNvPr>
        <p:cNvGrpSpPr/>
        <p:nvPr/>
      </p:nvGrpSpPr>
      <p:grpSpPr>
        <a:xfrm>
          <a:off x="0" y="0"/>
          <a:ext cx="0" cy="0"/>
          <a:chOff x="0" y="0"/>
          <a:chExt cx="0" cy="0"/>
        </a:xfrm>
      </p:grpSpPr>
      <p:sp>
        <p:nvSpPr>
          <p:cNvPr id="390" name="Google Shape;390;p81">
            <a:extLst>
              <a:ext uri="{FF2B5EF4-FFF2-40B4-BE49-F238E27FC236}">
                <a16:creationId xmlns:a16="http://schemas.microsoft.com/office/drawing/2014/main" id="{5EEE73DD-54CA-7913-7620-432415AA3AA6}"/>
              </a:ext>
            </a:extLst>
          </p:cNvPr>
          <p:cNvSpPr txBox="1">
            <a:spLocks noGrp="1"/>
          </p:cNvSpPr>
          <p:nvPr>
            <p:ph type="body" idx="1"/>
          </p:nvPr>
        </p:nvSpPr>
        <p:spPr>
          <a:xfrm>
            <a:off x="352425" y="329425"/>
            <a:ext cx="2839800" cy="583500"/>
          </a:xfrm>
          <a:prstGeom prst="rect">
            <a:avLst/>
          </a:prstGeom>
        </p:spPr>
        <p:txBody>
          <a:bodyPr spcFirstLastPara="1" wrap="square" lIns="68575" tIns="34275" rIns="68575" bIns="34275" anchor="b" anchorCtr="0">
            <a:noAutofit/>
          </a:bodyPr>
          <a:lstStyle/>
          <a:p>
            <a:pPr marL="0" lvl="0" indent="0" algn="ctr" rtl="0">
              <a:spcBef>
                <a:spcPts val="300"/>
              </a:spcBef>
              <a:spcAft>
                <a:spcPts val="0"/>
              </a:spcAft>
              <a:buNone/>
            </a:pPr>
            <a:r>
              <a:rPr lang="en" sz="2400" b="1" dirty="0"/>
              <a:t>Design Objectives</a:t>
            </a:r>
            <a:endParaRPr sz="2400" b="1" dirty="0"/>
          </a:p>
        </p:txBody>
      </p:sp>
      <p:sp>
        <p:nvSpPr>
          <p:cNvPr id="394" name="Google Shape;394;p81">
            <a:extLst>
              <a:ext uri="{FF2B5EF4-FFF2-40B4-BE49-F238E27FC236}">
                <a16:creationId xmlns:a16="http://schemas.microsoft.com/office/drawing/2014/main" id="{39C33DA8-FEC8-43A3-6118-8592B7B1391C}"/>
              </a:ext>
            </a:extLst>
          </p:cNvPr>
          <p:cNvSpPr txBox="1"/>
          <p:nvPr/>
        </p:nvSpPr>
        <p:spPr>
          <a:xfrm>
            <a:off x="5710887" y="819971"/>
            <a:ext cx="2986200" cy="32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dirty="0"/>
              <a:t>Target Specifications</a:t>
            </a:r>
            <a:endParaRPr b="1" dirty="0"/>
          </a:p>
        </p:txBody>
      </p:sp>
      <p:graphicFrame>
        <p:nvGraphicFramePr>
          <p:cNvPr id="2" name="Table 1">
            <a:extLst>
              <a:ext uri="{FF2B5EF4-FFF2-40B4-BE49-F238E27FC236}">
                <a16:creationId xmlns:a16="http://schemas.microsoft.com/office/drawing/2014/main" id="{2D0049B1-5FE6-08A5-F042-B1EB2F45F6E8}"/>
              </a:ext>
            </a:extLst>
          </p:cNvPr>
          <p:cNvGraphicFramePr>
            <a:graphicFrameLocks noGrp="1"/>
          </p:cNvGraphicFramePr>
          <p:nvPr>
            <p:extLst>
              <p:ext uri="{D42A27DB-BD31-4B8C-83A1-F6EECF244321}">
                <p14:modId xmlns:p14="http://schemas.microsoft.com/office/powerpoint/2010/main" val="1227207979"/>
              </p:ext>
            </p:extLst>
          </p:nvPr>
        </p:nvGraphicFramePr>
        <p:xfrm>
          <a:off x="4465562" y="1230826"/>
          <a:ext cx="4619444" cy="3300787"/>
        </p:xfrm>
        <a:graphic>
          <a:graphicData uri="http://schemas.openxmlformats.org/drawingml/2006/table">
            <a:tbl>
              <a:tblPr>
                <a:tableStyleId>{3CE9ADDB-3E52-4110-924A-337BC88D7030}</a:tableStyleId>
              </a:tblPr>
              <a:tblGrid>
                <a:gridCol w="1170074">
                  <a:extLst>
                    <a:ext uri="{9D8B030D-6E8A-4147-A177-3AD203B41FA5}">
                      <a16:colId xmlns:a16="http://schemas.microsoft.com/office/drawing/2014/main" val="3626574950"/>
                    </a:ext>
                  </a:extLst>
                </a:gridCol>
                <a:gridCol w="814812">
                  <a:extLst>
                    <a:ext uri="{9D8B030D-6E8A-4147-A177-3AD203B41FA5}">
                      <a16:colId xmlns:a16="http://schemas.microsoft.com/office/drawing/2014/main" val="2087998974"/>
                    </a:ext>
                  </a:extLst>
                </a:gridCol>
                <a:gridCol w="579421">
                  <a:extLst>
                    <a:ext uri="{9D8B030D-6E8A-4147-A177-3AD203B41FA5}">
                      <a16:colId xmlns:a16="http://schemas.microsoft.com/office/drawing/2014/main" val="1569170560"/>
                    </a:ext>
                  </a:extLst>
                </a:gridCol>
                <a:gridCol w="2055137">
                  <a:extLst>
                    <a:ext uri="{9D8B030D-6E8A-4147-A177-3AD203B41FA5}">
                      <a16:colId xmlns:a16="http://schemas.microsoft.com/office/drawing/2014/main" val="4049651022"/>
                    </a:ext>
                  </a:extLst>
                </a:gridCol>
              </a:tblGrid>
              <a:tr h="0">
                <a:tc>
                  <a:txBody>
                    <a:bodyPr/>
                    <a:lstStyle/>
                    <a:p>
                      <a:pPr>
                        <a:buNone/>
                      </a:pPr>
                      <a:r>
                        <a:rPr lang="zh-CN" sz="1200" dirty="0"/>
                        <a:t>Signal</a:t>
                      </a:r>
                    </a:p>
                  </a:txBody>
                  <a:tcPr marL="80884" marR="80884" marT="40442" marB="40442" anchor="ctr"/>
                </a:tc>
                <a:tc>
                  <a:txBody>
                    <a:bodyPr/>
                    <a:lstStyle/>
                    <a:p>
                      <a:pPr>
                        <a:buNone/>
                      </a:pPr>
                      <a:r>
                        <a:rPr lang="zh-CN" sz="1200" dirty="0"/>
                        <a:t>Direction</a:t>
                      </a:r>
                    </a:p>
                  </a:txBody>
                  <a:tcPr marL="80884" marR="80884" marT="40442" marB="40442" anchor="ctr"/>
                </a:tc>
                <a:tc>
                  <a:txBody>
                    <a:bodyPr/>
                    <a:lstStyle/>
                    <a:p>
                      <a:pPr>
                        <a:buNone/>
                      </a:pPr>
                      <a:r>
                        <a:rPr lang="zh-CN" sz="1200"/>
                        <a:t>Width</a:t>
                      </a:r>
                    </a:p>
                  </a:txBody>
                  <a:tcPr marL="80884" marR="80884" marT="40442" marB="40442" anchor="ctr"/>
                </a:tc>
                <a:tc>
                  <a:txBody>
                    <a:bodyPr/>
                    <a:lstStyle/>
                    <a:p>
                      <a:pPr>
                        <a:buNone/>
                      </a:pPr>
                      <a:r>
                        <a:rPr lang="zh-CN" sz="1200"/>
                        <a:t>Purpose</a:t>
                      </a:r>
                    </a:p>
                  </a:txBody>
                  <a:tcPr marL="80884" marR="80884" marT="40442" marB="40442" anchor="ctr"/>
                </a:tc>
                <a:extLst>
                  <a:ext uri="{0D108BD9-81ED-4DB2-BD59-A6C34878D82A}">
                    <a16:rowId xmlns:a16="http://schemas.microsoft.com/office/drawing/2014/main" val="2766463118"/>
                  </a:ext>
                </a:extLst>
              </a:tr>
              <a:tr h="273606">
                <a:tc>
                  <a:txBody>
                    <a:bodyPr/>
                    <a:lstStyle/>
                    <a:p>
                      <a:pPr>
                        <a:buNone/>
                      </a:pPr>
                      <a:r>
                        <a:rPr lang="zh-CN" sz="1200"/>
                        <a:t>clk</a:t>
                      </a:r>
                    </a:p>
                  </a:txBody>
                  <a:tcPr marL="80884" marR="80884" marT="40442" marB="40442" anchor="ctr"/>
                </a:tc>
                <a:tc>
                  <a:txBody>
                    <a:bodyPr/>
                    <a:lstStyle/>
                    <a:p>
                      <a:pPr>
                        <a:buNone/>
                      </a:pPr>
                      <a:r>
                        <a:rPr lang="zh-CN" sz="1200"/>
                        <a:t>input</a:t>
                      </a:r>
                    </a:p>
                  </a:txBody>
                  <a:tcPr marL="80884" marR="80884" marT="40442" marB="40442" anchor="ctr"/>
                </a:tc>
                <a:tc>
                  <a:txBody>
                    <a:bodyPr/>
                    <a:lstStyle/>
                    <a:p>
                      <a:pPr>
                        <a:buNone/>
                      </a:pPr>
                      <a:r>
                        <a:rPr lang="zh-CN" sz="1200" dirty="0"/>
                        <a:t>1</a:t>
                      </a:r>
                    </a:p>
                  </a:txBody>
                  <a:tcPr marL="80884" marR="80884" marT="40442" marB="40442" anchor="ctr"/>
                </a:tc>
                <a:tc>
                  <a:txBody>
                    <a:bodyPr/>
                    <a:lstStyle/>
                    <a:p>
                      <a:pPr>
                        <a:buNone/>
                      </a:pPr>
                      <a:r>
                        <a:rPr lang="zh-CN" sz="1200"/>
                        <a:t>System clock</a:t>
                      </a:r>
                    </a:p>
                  </a:txBody>
                  <a:tcPr marL="80884" marR="80884" marT="40442" marB="40442" anchor="ctr"/>
                </a:tc>
                <a:extLst>
                  <a:ext uri="{0D108BD9-81ED-4DB2-BD59-A6C34878D82A}">
                    <a16:rowId xmlns:a16="http://schemas.microsoft.com/office/drawing/2014/main" val="3015167813"/>
                  </a:ext>
                </a:extLst>
              </a:tr>
              <a:tr h="273606">
                <a:tc>
                  <a:txBody>
                    <a:bodyPr/>
                    <a:lstStyle/>
                    <a:p>
                      <a:pPr>
                        <a:buNone/>
                      </a:pPr>
                      <a:r>
                        <a:rPr lang="zh-CN" sz="1200"/>
                        <a:t>rst_n</a:t>
                      </a:r>
                    </a:p>
                  </a:txBody>
                  <a:tcPr marL="80884" marR="80884" marT="40442" marB="40442" anchor="ctr"/>
                </a:tc>
                <a:tc>
                  <a:txBody>
                    <a:bodyPr/>
                    <a:lstStyle/>
                    <a:p>
                      <a:pPr>
                        <a:buNone/>
                      </a:pPr>
                      <a:r>
                        <a:rPr lang="zh-CN" sz="1200"/>
                        <a:t>input</a:t>
                      </a:r>
                    </a:p>
                  </a:txBody>
                  <a:tcPr marL="80884" marR="80884" marT="40442" marB="40442" anchor="ctr"/>
                </a:tc>
                <a:tc>
                  <a:txBody>
                    <a:bodyPr/>
                    <a:lstStyle/>
                    <a:p>
                      <a:pPr>
                        <a:buNone/>
                      </a:pPr>
                      <a:r>
                        <a:rPr lang="zh-CN" sz="1200"/>
                        <a:t>1</a:t>
                      </a:r>
                    </a:p>
                  </a:txBody>
                  <a:tcPr marL="80884" marR="80884" marT="40442" marB="40442" anchor="ctr"/>
                </a:tc>
                <a:tc>
                  <a:txBody>
                    <a:bodyPr/>
                    <a:lstStyle/>
                    <a:p>
                      <a:pPr>
                        <a:buNone/>
                      </a:pPr>
                      <a:r>
                        <a:rPr lang="zh-CN" sz="1200" dirty="0"/>
                        <a:t>Active-low reset</a:t>
                      </a:r>
                    </a:p>
                  </a:txBody>
                  <a:tcPr marL="80884" marR="80884" marT="40442" marB="40442" anchor="ctr"/>
                </a:tc>
                <a:extLst>
                  <a:ext uri="{0D108BD9-81ED-4DB2-BD59-A6C34878D82A}">
                    <a16:rowId xmlns:a16="http://schemas.microsoft.com/office/drawing/2014/main" val="3336131527"/>
                  </a:ext>
                </a:extLst>
              </a:tr>
              <a:tr h="465129">
                <a:tc>
                  <a:txBody>
                    <a:bodyPr/>
                    <a:lstStyle/>
                    <a:p>
                      <a:pPr>
                        <a:buNone/>
                      </a:pPr>
                      <a:r>
                        <a:rPr lang="zh-CN" sz="1200"/>
                        <a:t>start</a:t>
                      </a:r>
                    </a:p>
                  </a:txBody>
                  <a:tcPr marL="80884" marR="80884" marT="40442" marB="40442" anchor="ctr"/>
                </a:tc>
                <a:tc>
                  <a:txBody>
                    <a:bodyPr/>
                    <a:lstStyle/>
                    <a:p>
                      <a:pPr>
                        <a:buNone/>
                      </a:pPr>
                      <a:r>
                        <a:rPr lang="zh-CN" sz="1200"/>
                        <a:t>input</a:t>
                      </a:r>
                    </a:p>
                  </a:txBody>
                  <a:tcPr marL="80884" marR="80884" marT="40442" marB="40442" anchor="ctr"/>
                </a:tc>
                <a:tc>
                  <a:txBody>
                    <a:bodyPr/>
                    <a:lstStyle/>
                    <a:p>
                      <a:pPr>
                        <a:buNone/>
                      </a:pPr>
                      <a:r>
                        <a:rPr lang="zh-CN" sz="1200"/>
                        <a:t>1</a:t>
                      </a:r>
                    </a:p>
                  </a:txBody>
                  <a:tcPr marL="80884" marR="80884" marT="40442" marB="40442" anchor="ctr"/>
                </a:tc>
                <a:tc>
                  <a:txBody>
                    <a:bodyPr/>
                    <a:lstStyle/>
                    <a:p>
                      <a:pPr>
                        <a:buNone/>
                      </a:pPr>
                      <a:r>
                        <a:rPr lang="zh-CN" sz="1200" dirty="0"/>
                        <a:t>Start LSTM computation</a:t>
                      </a:r>
                    </a:p>
                  </a:txBody>
                  <a:tcPr marL="80884" marR="80884" marT="40442" marB="40442" anchor="ctr"/>
                </a:tc>
                <a:extLst>
                  <a:ext uri="{0D108BD9-81ED-4DB2-BD59-A6C34878D82A}">
                    <a16:rowId xmlns:a16="http://schemas.microsoft.com/office/drawing/2014/main" val="4269170208"/>
                  </a:ext>
                </a:extLst>
              </a:tr>
              <a:tr h="465129">
                <a:tc>
                  <a:txBody>
                    <a:bodyPr/>
                    <a:lstStyle/>
                    <a:p>
                      <a:pPr>
                        <a:buNone/>
                      </a:pPr>
                      <a:r>
                        <a:rPr lang="zh-CN" sz="1200"/>
                        <a:t>host_en</a:t>
                      </a:r>
                    </a:p>
                  </a:txBody>
                  <a:tcPr marL="80884" marR="80884" marT="40442" marB="40442" anchor="ctr"/>
                </a:tc>
                <a:tc>
                  <a:txBody>
                    <a:bodyPr/>
                    <a:lstStyle/>
                    <a:p>
                      <a:pPr>
                        <a:buNone/>
                      </a:pPr>
                      <a:r>
                        <a:rPr lang="zh-CN" sz="1200" dirty="0"/>
                        <a:t>input</a:t>
                      </a:r>
                    </a:p>
                  </a:txBody>
                  <a:tcPr marL="80884" marR="80884" marT="40442" marB="40442" anchor="ctr"/>
                </a:tc>
                <a:tc>
                  <a:txBody>
                    <a:bodyPr/>
                    <a:lstStyle/>
                    <a:p>
                      <a:pPr>
                        <a:buNone/>
                      </a:pPr>
                      <a:r>
                        <a:rPr lang="zh-CN" sz="1200" dirty="0"/>
                        <a:t>1</a:t>
                      </a:r>
                    </a:p>
                  </a:txBody>
                  <a:tcPr marL="80884" marR="80884" marT="40442" marB="40442" anchor="ctr"/>
                </a:tc>
                <a:tc>
                  <a:txBody>
                    <a:bodyPr/>
                    <a:lstStyle/>
                    <a:p>
                      <a:pPr>
                        <a:buNone/>
                      </a:pPr>
                      <a:r>
                        <a:rPr lang="zh-CN" sz="1200" dirty="0"/>
                        <a:t>Host SRAM access enable</a:t>
                      </a:r>
                    </a:p>
                  </a:txBody>
                  <a:tcPr marL="80884" marR="80884" marT="40442" marB="40442" anchor="ctr"/>
                </a:tc>
                <a:extLst>
                  <a:ext uri="{0D108BD9-81ED-4DB2-BD59-A6C34878D82A}">
                    <a16:rowId xmlns:a16="http://schemas.microsoft.com/office/drawing/2014/main" val="2483600167"/>
                  </a:ext>
                </a:extLst>
              </a:tr>
              <a:tr h="273606">
                <a:tc>
                  <a:txBody>
                    <a:bodyPr/>
                    <a:lstStyle/>
                    <a:p>
                      <a:pPr>
                        <a:buNone/>
                      </a:pPr>
                      <a:r>
                        <a:rPr lang="zh-CN" sz="1200"/>
                        <a:t>host_we</a:t>
                      </a:r>
                    </a:p>
                  </a:txBody>
                  <a:tcPr marL="80884" marR="80884" marT="40442" marB="40442" anchor="ctr"/>
                </a:tc>
                <a:tc>
                  <a:txBody>
                    <a:bodyPr/>
                    <a:lstStyle/>
                    <a:p>
                      <a:pPr>
                        <a:buNone/>
                      </a:pPr>
                      <a:r>
                        <a:rPr lang="zh-CN" sz="1200"/>
                        <a:t>input</a:t>
                      </a:r>
                    </a:p>
                  </a:txBody>
                  <a:tcPr marL="80884" marR="80884" marT="40442" marB="40442" anchor="ctr"/>
                </a:tc>
                <a:tc>
                  <a:txBody>
                    <a:bodyPr/>
                    <a:lstStyle/>
                    <a:p>
                      <a:pPr>
                        <a:buNone/>
                      </a:pPr>
                      <a:r>
                        <a:rPr lang="zh-CN" sz="1200"/>
                        <a:t>1</a:t>
                      </a:r>
                    </a:p>
                  </a:txBody>
                  <a:tcPr marL="80884" marR="80884" marT="40442" marB="40442" anchor="ctr"/>
                </a:tc>
                <a:tc>
                  <a:txBody>
                    <a:bodyPr/>
                    <a:lstStyle/>
                    <a:p>
                      <a:pPr>
                        <a:buNone/>
                      </a:pPr>
                      <a:r>
                        <a:rPr lang="zh-CN" sz="1200" dirty="0"/>
                        <a:t>Host write/read select</a:t>
                      </a:r>
                    </a:p>
                  </a:txBody>
                  <a:tcPr marL="80884" marR="80884" marT="40442" marB="40442" anchor="ctr"/>
                </a:tc>
                <a:extLst>
                  <a:ext uri="{0D108BD9-81ED-4DB2-BD59-A6C34878D82A}">
                    <a16:rowId xmlns:a16="http://schemas.microsoft.com/office/drawing/2014/main" val="2685032026"/>
                  </a:ext>
                </a:extLst>
              </a:tr>
              <a:tr h="273606">
                <a:tc>
                  <a:txBody>
                    <a:bodyPr/>
                    <a:lstStyle/>
                    <a:p>
                      <a:pPr>
                        <a:buNone/>
                      </a:pPr>
                      <a:r>
                        <a:rPr lang="zh-CN" sz="1200"/>
                        <a:t>host_addr[6:0]</a:t>
                      </a:r>
                    </a:p>
                  </a:txBody>
                  <a:tcPr marL="80884" marR="80884" marT="40442" marB="40442" anchor="ctr"/>
                </a:tc>
                <a:tc>
                  <a:txBody>
                    <a:bodyPr/>
                    <a:lstStyle/>
                    <a:p>
                      <a:pPr>
                        <a:buNone/>
                      </a:pPr>
                      <a:r>
                        <a:rPr lang="zh-CN" sz="1200"/>
                        <a:t>input</a:t>
                      </a:r>
                    </a:p>
                  </a:txBody>
                  <a:tcPr marL="80884" marR="80884" marT="40442" marB="40442" anchor="ctr"/>
                </a:tc>
                <a:tc>
                  <a:txBody>
                    <a:bodyPr/>
                    <a:lstStyle/>
                    <a:p>
                      <a:pPr>
                        <a:buNone/>
                      </a:pPr>
                      <a:r>
                        <a:rPr lang="zh-CN" sz="1200" dirty="0"/>
                        <a:t>7</a:t>
                      </a:r>
                    </a:p>
                  </a:txBody>
                  <a:tcPr marL="80884" marR="80884" marT="40442" marB="40442" anchor="ctr"/>
                </a:tc>
                <a:tc>
                  <a:txBody>
                    <a:bodyPr/>
                    <a:lstStyle/>
                    <a:p>
                      <a:pPr>
                        <a:buNone/>
                      </a:pPr>
                      <a:r>
                        <a:rPr lang="zh-CN" sz="1200" dirty="0"/>
                        <a:t>SRAM address</a:t>
                      </a:r>
                    </a:p>
                  </a:txBody>
                  <a:tcPr marL="80884" marR="80884" marT="40442" marB="40442" anchor="ctr"/>
                </a:tc>
                <a:extLst>
                  <a:ext uri="{0D108BD9-81ED-4DB2-BD59-A6C34878D82A}">
                    <a16:rowId xmlns:a16="http://schemas.microsoft.com/office/drawing/2014/main" val="4107297759"/>
                  </a:ext>
                </a:extLst>
              </a:tr>
              <a:tr h="465129">
                <a:tc>
                  <a:txBody>
                    <a:bodyPr/>
                    <a:lstStyle/>
                    <a:p>
                      <a:pPr>
                        <a:buNone/>
                      </a:pPr>
                      <a:r>
                        <a:rPr lang="zh-CN" sz="1200"/>
                        <a:t>host_data[7:0]</a:t>
                      </a:r>
                    </a:p>
                  </a:txBody>
                  <a:tcPr marL="80884" marR="80884" marT="40442" marB="40442" anchor="ctr"/>
                </a:tc>
                <a:tc>
                  <a:txBody>
                    <a:bodyPr/>
                    <a:lstStyle/>
                    <a:p>
                      <a:pPr>
                        <a:buNone/>
                      </a:pPr>
                      <a:r>
                        <a:rPr lang="zh-CN" sz="1200" dirty="0"/>
                        <a:t>inout</a:t>
                      </a:r>
                    </a:p>
                  </a:txBody>
                  <a:tcPr marL="80884" marR="80884" marT="40442" marB="40442" anchor="ctr"/>
                </a:tc>
                <a:tc>
                  <a:txBody>
                    <a:bodyPr/>
                    <a:lstStyle/>
                    <a:p>
                      <a:pPr>
                        <a:buNone/>
                      </a:pPr>
                      <a:r>
                        <a:rPr lang="zh-CN" sz="1200" dirty="0"/>
                        <a:t>8</a:t>
                      </a:r>
                    </a:p>
                  </a:txBody>
                  <a:tcPr marL="80884" marR="80884" marT="40442" marB="40442" anchor="ctr"/>
                </a:tc>
                <a:tc>
                  <a:txBody>
                    <a:bodyPr/>
                    <a:lstStyle/>
                    <a:p>
                      <a:pPr>
                        <a:buNone/>
                      </a:pPr>
                      <a:r>
                        <a:rPr lang="zh-CN" sz="1200" dirty="0"/>
                        <a:t>Shared host write/read data bus</a:t>
                      </a:r>
                    </a:p>
                  </a:txBody>
                  <a:tcPr marL="80884" marR="80884" marT="40442" marB="40442" anchor="ctr"/>
                </a:tc>
                <a:extLst>
                  <a:ext uri="{0D108BD9-81ED-4DB2-BD59-A6C34878D82A}">
                    <a16:rowId xmlns:a16="http://schemas.microsoft.com/office/drawing/2014/main" val="991664346"/>
                  </a:ext>
                </a:extLst>
              </a:tr>
              <a:tr h="273606">
                <a:tc>
                  <a:txBody>
                    <a:bodyPr/>
                    <a:lstStyle/>
                    <a:p>
                      <a:pPr>
                        <a:buNone/>
                      </a:pPr>
                      <a:r>
                        <a:rPr lang="zh-CN" sz="1200"/>
                        <a:t>busy</a:t>
                      </a:r>
                    </a:p>
                  </a:txBody>
                  <a:tcPr marL="80884" marR="80884" marT="40442" marB="40442" anchor="ctr"/>
                </a:tc>
                <a:tc>
                  <a:txBody>
                    <a:bodyPr/>
                    <a:lstStyle/>
                    <a:p>
                      <a:pPr>
                        <a:buNone/>
                      </a:pPr>
                      <a:r>
                        <a:rPr lang="zh-CN" sz="1200"/>
                        <a:t>output</a:t>
                      </a:r>
                    </a:p>
                  </a:txBody>
                  <a:tcPr marL="80884" marR="80884" marT="40442" marB="40442" anchor="ctr"/>
                </a:tc>
                <a:tc>
                  <a:txBody>
                    <a:bodyPr/>
                    <a:lstStyle/>
                    <a:p>
                      <a:pPr>
                        <a:buNone/>
                      </a:pPr>
                      <a:r>
                        <a:rPr lang="zh-CN" sz="1200"/>
                        <a:t>1</a:t>
                      </a:r>
                    </a:p>
                  </a:txBody>
                  <a:tcPr marL="80884" marR="80884" marT="40442" marB="40442" anchor="ctr"/>
                </a:tc>
                <a:tc>
                  <a:txBody>
                    <a:bodyPr/>
                    <a:lstStyle/>
                    <a:p>
                      <a:pPr>
                        <a:buNone/>
                      </a:pPr>
                      <a:r>
                        <a:rPr lang="zh-CN" sz="1200"/>
                        <a:t>Core is using SRAM</a:t>
                      </a:r>
                    </a:p>
                  </a:txBody>
                  <a:tcPr marL="80884" marR="80884" marT="40442" marB="40442" anchor="ctr"/>
                </a:tc>
                <a:extLst>
                  <a:ext uri="{0D108BD9-81ED-4DB2-BD59-A6C34878D82A}">
                    <a16:rowId xmlns:a16="http://schemas.microsoft.com/office/drawing/2014/main" val="1780062972"/>
                  </a:ext>
                </a:extLst>
              </a:tr>
              <a:tr h="273606">
                <a:tc>
                  <a:txBody>
                    <a:bodyPr/>
                    <a:lstStyle/>
                    <a:p>
                      <a:pPr>
                        <a:buNone/>
                      </a:pPr>
                      <a:r>
                        <a:rPr lang="zh-CN" sz="1200"/>
                        <a:t>done</a:t>
                      </a:r>
                    </a:p>
                  </a:txBody>
                  <a:tcPr marL="80884" marR="80884" marT="40442" marB="40442" anchor="ctr"/>
                </a:tc>
                <a:tc>
                  <a:txBody>
                    <a:bodyPr/>
                    <a:lstStyle/>
                    <a:p>
                      <a:pPr>
                        <a:buNone/>
                      </a:pPr>
                      <a:r>
                        <a:rPr lang="zh-CN" sz="1200"/>
                        <a:t>output</a:t>
                      </a:r>
                    </a:p>
                  </a:txBody>
                  <a:tcPr marL="80884" marR="80884" marT="40442" marB="40442" anchor="ctr"/>
                </a:tc>
                <a:tc>
                  <a:txBody>
                    <a:bodyPr/>
                    <a:lstStyle/>
                    <a:p>
                      <a:pPr>
                        <a:buNone/>
                      </a:pPr>
                      <a:r>
                        <a:rPr lang="zh-CN" sz="1200"/>
                        <a:t>1</a:t>
                      </a:r>
                    </a:p>
                  </a:txBody>
                  <a:tcPr marL="80884" marR="80884" marT="40442" marB="40442" anchor="ctr"/>
                </a:tc>
                <a:tc>
                  <a:txBody>
                    <a:bodyPr/>
                    <a:lstStyle/>
                    <a:p>
                      <a:pPr>
                        <a:buNone/>
                      </a:pPr>
                      <a:r>
                        <a:rPr lang="zh-CN" sz="1200" dirty="0"/>
                        <a:t>Computation finished</a:t>
                      </a:r>
                    </a:p>
                  </a:txBody>
                  <a:tcPr marL="80884" marR="80884" marT="40442" marB="40442" anchor="ctr"/>
                </a:tc>
                <a:extLst>
                  <a:ext uri="{0D108BD9-81ED-4DB2-BD59-A6C34878D82A}">
                    <a16:rowId xmlns:a16="http://schemas.microsoft.com/office/drawing/2014/main" val="3402274689"/>
                  </a:ext>
                </a:extLst>
              </a:tr>
            </a:tbl>
          </a:graphicData>
        </a:graphic>
      </p:graphicFrame>
      <p:pic>
        <p:nvPicPr>
          <p:cNvPr id="7" name="Picture 6">
            <a:extLst>
              <a:ext uri="{FF2B5EF4-FFF2-40B4-BE49-F238E27FC236}">
                <a16:creationId xmlns:a16="http://schemas.microsoft.com/office/drawing/2014/main" id="{B5456B62-9809-5428-2237-100C080A535A}"/>
              </a:ext>
            </a:extLst>
          </p:cNvPr>
          <p:cNvPicPr>
            <a:picLocks noChangeAspect="1"/>
          </p:cNvPicPr>
          <p:nvPr/>
        </p:nvPicPr>
        <p:blipFill>
          <a:blip r:embed="rId3"/>
          <a:stretch>
            <a:fillRect/>
          </a:stretch>
        </p:blipFill>
        <p:spPr>
          <a:xfrm>
            <a:off x="0" y="1142471"/>
            <a:ext cx="4401050" cy="3038167"/>
          </a:xfrm>
          <a:prstGeom prst="rect">
            <a:avLst/>
          </a:prstGeom>
        </p:spPr>
      </p:pic>
    </p:spTree>
    <p:extLst>
      <p:ext uri="{BB962C8B-B14F-4D97-AF65-F5344CB8AC3E}">
        <p14:creationId xmlns:p14="http://schemas.microsoft.com/office/powerpoint/2010/main" val="42151129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5" name="Google Shape;390;p81">
            <a:extLst>
              <a:ext uri="{FF2B5EF4-FFF2-40B4-BE49-F238E27FC236}">
                <a16:creationId xmlns:a16="http://schemas.microsoft.com/office/drawing/2014/main" id="{803CEAA2-C815-9CDD-D867-3221F88E4229}"/>
              </a:ext>
            </a:extLst>
          </p:cNvPr>
          <p:cNvSpPr txBox="1">
            <a:spLocks noGrp="1"/>
          </p:cNvSpPr>
          <p:nvPr>
            <p:ph type="body" idx="1"/>
          </p:nvPr>
        </p:nvSpPr>
        <p:spPr>
          <a:xfrm>
            <a:off x="122867" y="0"/>
            <a:ext cx="2839800" cy="583500"/>
          </a:xfrm>
          <a:prstGeom prst="rect">
            <a:avLst/>
          </a:prstGeom>
        </p:spPr>
        <p:txBody>
          <a:bodyPr spcFirstLastPara="1" wrap="square" lIns="68575" tIns="34275" rIns="68575" bIns="34275" anchor="b" anchorCtr="0">
            <a:noAutofit/>
          </a:bodyPr>
          <a:lstStyle/>
          <a:p>
            <a:pPr marL="0" lvl="0" indent="0" algn="ctr" rtl="0">
              <a:spcBef>
                <a:spcPts val="300"/>
              </a:spcBef>
              <a:spcAft>
                <a:spcPts val="0"/>
              </a:spcAft>
              <a:buNone/>
            </a:pPr>
            <a:r>
              <a:rPr lang="en" sz="2400" b="1" dirty="0"/>
              <a:t>S</a:t>
            </a:r>
            <a:r>
              <a:rPr lang="en-US" sz="2400" b="1" dirty="0" err="1"/>
              <a:t>ystem</a:t>
            </a:r>
            <a:r>
              <a:rPr lang="en-US" sz="2400" b="1" dirty="0"/>
              <a:t> Overview</a:t>
            </a:r>
            <a:endParaRPr sz="2400" b="1" dirty="0"/>
          </a:p>
        </p:txBody>
      </p:sp>
      <p:pic>
        <p:nvPicPr>
          <p:cNvPr id="12" name="Picture 11">
            <a:extLst>
              <a:ext uri="{FF2B5EF4-FFF2-40B4-BE49-F238E27FC236}">
                <a16:creationId xmlns:a16="http://schemas.microsoft.com/office/drawing/2014/main" id="{ED1B6FAB-302B-29C0-4A2E-C56BB823A12E}"/>
              </a:ext>
            </a:extLst>
          </p:cNvPr>
          <p:cNvPicPr>
            <a:picLocks noChangeAspect="1"/>
          </p:cNvPicPr>
          <p:nvPr/>
        </p:nvPicPr>
        <p:blipFill>
          <a:blip r:embed="rId3"/>
          <a:srcRect t="10644"/>
          <a:stretch>
            <a:fillRect/>
          </a:stretch>
        </p:blipFill>
        <p:spPr>
          <a:xfrm>
            <a:off x="122867" y="583500"/>
            <a:ext cx="6363078" cy="3230128"/>
          </a:xfrm>
          <a:prstGeom prst="rect">
            <a:avLst/>
          </a:prstGeom>
        </p:spPr>
      </p:pic>
      <p:sp>
        <p:nvSpPr>
          <p:cNvPr id="8" name="Google Shape;390;p81">
            <a:extLst>
              <a:ext uri="{FF2B5EF4-FFF2-40B4-BE49-F238E27FC236}">
                <a16:creationId xmlns:a16="http://schemas.microsoft.com/office/drawing/2014/main" id="{CDDEF41B-DC23-8FF4-7371-C33DE6686BA8}"/>
              </a:ext>
            </a:extLst>
          </p:cNvPr>
          <p:cNvSpPr txBox="1">
            <a:spLocks/>
          </p:cNvSpPr>
          <p:nvPr/>
        </p:nvSpPr>
        <p:spPr>
          <a:xfrm>
            <a:off x="-504433" y="3461629"/>
            <a:ext cx="3467100" cy="583500"/>
          </a:xfrm>
          <a:prstGeom prst="rect">
            <a:avLst/>
          </a:prstGeom>
          <a:noFill/>
          <a:ln>
            <a:noFill/>
          </a:ln>
        </p:spPr>
        <p:txBody>
          <a:bodyPr spcFirstLastPara="1" wrap="square" lIns="68575" tIns="34275" rIns="68575" bIns="34275" anchor="b" anchorCtr="0">
            <a:noAutofit/>
          </a:bodyPr>
          <a:lstStyle>
            <a:defPPr marR="0" lvl="0" algn="l" rtl="0">
              <a:lnSpc>
                <a:spcPct val="100000"/>
              </a:lnSpc>
              <a:spcBef>
                <a:spcPts val="0"/>
              </a:spcBef>
              <a:spcAft>
                <a:spcPts val="0"/>
              </a:spcAft>
            </a:defPPr>
            <a:lvl1pPr marL="457200" marR="0" lvl="0" indent="-228600" algn="l" rtl="0">
              <a:lnSpc>
                <a:spcPct val="100000"/>
              </a:lnSpc>
              <a:spcBef>
                <a:spcPts val="300"/>
              </a:spcBef>
              <a:spcAft>
                <a:spcPts val="0"/>
              </a:spcAft>
              <a:buClr>
                <a:srgbClr val="000000"/>
              </a:buClr>
              <a:buSzPts val="1200"/>
              <a:buFont typeface="Verdana"/>
              <a:buNone/>
              <a:defRPr sz="1500" b="0" i="0" u="none" strike="noStrike" cap="none">
                <a:solidFill>
                  <a:srgbClr val="000000"/>
                </a:solidFill>
                <a:latin typeface="Arial"/>
                <a:ea typeface="Arial"/>
                <a:cs typeface="Arial"/>
                <a:sym typeface="Arial"/>
              </a:defRPr>
            </a:lvl1pPr>
            <a:lvl2pPr marL="914400" marR="0" lvl="1" indent="-228600" algn="l" rtl="0">
              <a:lnSpc>
                <a:spcPct val="100000"/>
              </a:lnSpc>
              <a:spcBef>
                <a:spcPts val="300"/>
              </a:spcBef>
              <a:spcAft>
                <a:spcPts val="0"/>
              </a:spcAft>
              <a:buClr>
                <a:srgbClr val="000000"/>
              </a:buClr>
              <a:buSzPts val="1400"/>
              <a:buFont typeface="Verdana"/>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20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3pPr>
            <a:lvl4pPr marL="1828800" marR="0" lvl="3" indent="-228600" algn="l" rtl="0">
              <a:lnSpc>
                <a:spcPct val="100000"/>
              </a:lnSpc>
              <a:spcBef>
                <a:spcPts val="200"/>
              </a:spcBef>
              <a:spcAft>
                <a:spcPts val="0"/>
              </a:spcAft>
              <a:buClr>
                <a:srgbClr val="000000"/>
              </a:buClr>
              <a:buSzPts val="1100"/>
              <a:buFont typeface="Verdana"/>
              <a:buNone/>
              <a:defRPr sz="1100" b="0" i="0" u="none" strike="noStrike" cap="none">
                <a:solidFill>
                  <a:srgbClr val="000000"/>
                </a:solidFill>
                <a:latin typeface="Arial"/>
                <a:ea typeface="Arial"/>
                <a:cs typeface="Arial"/>
                <a:sym typeface="Arial"/>
              </a:defRPr>
            </a:lvl4pPr>
            <a:lvl5pPr marL="2286000" marR="0" lvl="4" indent="-228600" algn="l" rtl="0">
              <a:lnSpc>
                <a:spcPct val="100000"/>
              </a:lnSpc>
              <a:spcBef>
                <a:spcPts val="20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L="2743200" marR="0" lvl="5" indent="-228600" algn="l" rtl="0">
              <a:lnSpc>
                <a:spcPct val="100000"/>
              </a:lnSpc>
              <a:spcBef>
                <a:spcPts val="20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L="3200400" marR="0" lvl="6" indent="-228600" algn="l" rtl="0">
              <a:lnSpc>
                <a:spcPct val="100000"/>
              </a:lnSpc>
              <a:spcBef>
                <a:spcPts val="20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L="3657600" marR="0" lvl="7" indent="-228600" algn="l" rtl="0">
              <a:lnSpc>
                <a:spcPct val="100000"/>
              </a:lnSpc>
              <a:spcBef>
                <a:spcPts val="20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L="4114800" marR="0" lvl="8" indent="-228600" algn="l" rtl="0">
              <a:lnSpc>
                <a:spcPct val="100000"/>
              </a:lnSpc>
              <a:spcBef>
                <a:spcPts val="20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pPr marL="0" indent="0" algn="ctr"/>
            <a:r>
              <a:rPr lang="en-US" sz="1600" b="1" dirty="0"/>
              <a:t>Design Assumptions</a:t>
            </a:r>
          </a:p>
        </p:txBody>
      </p:sp>
      <p:sp>
        <p:nvSpPr>
          <p:cNvPr id="9" name="TextBox 8">
            <a:extLst>
              <a:ext uri="{FF2B5EF4-FFF2-40B4-BE49-F238E27FC236}">
                <a16:creationId xmlns:a16="http://schemas.microsoft.com/office/drawing/2014/main" id="{179C5F55-8388-FD39-B013-E8B7F9803A39}"/>
              </a:ext>
            </a:extLst>
          </p:cNvPr>
          <p:cNvSpPr txBox="1"/>
          <p:nvPr/>
        </p:nvSpPr>
        <p:spPr>
          <a:xfrm>
            <a:off x="490537" y="3951861"/>
            <a:ext cx="8162925" cy="954107"/>
          </a:xfrm>
          <a:prstGeom prst="rect">
            <a:avLst/>
          </a:prstGeom>
          <a:noFill/>
        </p:spPr>
        <p:txBody>
          <a:bodyPr wrap="square">
            <a:spAutoFit/>
          </a:bodyPr>
          <a:lstStyle/>
          <a:p>
            <a:pPr marL="285750" indent="-285750">
              <a:buFont typeface="Wingdings" panose="05000000000000000000" pitchFamily="2" charset="2"/>
              <a:buChar char="l"/>
            </a:pPr>
            <a:r>
              <a:rPr lang="zh-CN" altLang="zh-CN" dirty="0"/>
              <a:t>Quantized INT8 data format is used for inputs, weights, gate values, and stored states.</a:t>
            </a:r>
            <a:endParaRPr lang="en-US" altLang="zh-CN" dirty="0"/>
          </a:p>
          <a:p>
            <a:pPr marL="285750" indent="-285750">
              <a:buFont typeface="Wingdings" panose="05000000000000000000" pitchFamily="2" charset="2"/>
              <a:buChar char="l"/>
            </a:pPr>
            <a:r>
              <a:rPr lang="zh-CN" altLang="zh-CN" dirty="0"/>
              <a:t>One LSTM state is processed sequentially rather than using a parallel gate array. </a:t>
            </a:r>
            <a:endParaRPr lang="en-US" altLang="zh-CN" dirty="0"/>
          </a:p>
          <a:p>
            <a:pPr marL="285750" indent="-285750">
              <a:buFont typeface="Wingdings" panose="05000000000000000000" pitchFamily="2" charset="2"/>
              <a:buChar char="l"/>
            </a:pPr>
            <a:r>
              <a:rPr lang="zh-CN" altLang="zh-CN" dirty="0"/>
              <a:t>Weights and inputs are stored in the SRAM address map before computation starts. </a:t>
            </a:r>
            <a:endParaRPr lang="en-US" altLang="zh-CN" dirty="0"/>
          </a:p>
          <a:p>
            <a:pPr marL="285750" indent="-285750">
              <a:buFont typeface="Wingdings" panose="05000000000000000000" pitchFamily="2" charset="2"/>
              <a:buChar char="l"/>
            </a:pPr>
            <a:r>
              <a:rPr lang="zh-CN" altLang="zh-CN" dirty="0"/>
              <a:t>Activation functions are approximated using small </a:t>
            </a:r>
            <a:r>
              <a:rPr lang="en-US" altLang="zh-CN" dirty="0"/>
              <a:t>32-value </a:t>
            </a:r>
            <a:r>
              <a:rPr lang="zh-CN" altLang="zh-CN" dirty="0"/>
              <a:t>LUTs</a:t>
            </a:r>
            <a:r>
              <a:rPr lang="en-US" altLang="zh-CN" dirty="0"/>
              <a:t> (concerned)</a:t>
            </a:r>
            <a:r>
              <a:rPr lang="zh-CN" altLang="zh-CN" dirty="0"/>
              <a:t>. </a:t>
            </a:r>
            <a:endParaRPr lang="zh-CN" altLang="en-US" dirty="0"/>
          </a:p>
        </p:txBody>
      </p:sp>
      <p:sp>
        <p:nvSpPr>
          <p:cNvPr id="11" name="TextBox 10">
            <a:extLst>
              <a:ext uri="{FF2B5EF4-FFF2-40B4-BE49-F238E27FC236}">
                <a16:creationId xmlns:a16="http://schemas.microsoft.com/office/drawing/2014/main" id="{FCEBA082-DD88-323D-BAE9-6C7E577A2C00}"/>
              </a:ext>
            </a:extLst>
          </p:cNvPr>
          <p:cNvSpPr txBox="1"/>
          <p:nvPr/>
        </p:nvSpPr>
        <p:spPr>
          <a:xfrm>
            <a:off x="6061587" y="720163"/>
            <a:ext cx="2959546" cy="1938992"/>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zh-CN" altLang="zh-CN" sz="1200" dirty="0"/>
              <a:t>• act_lut is used during gate computation:</a:t>
            </a:r>
            <a:br>
              <a:rPr lang="zh-CN" altLang="zh-CN" sz="1200" dirty="0"/>
            </a:br>
            <a:r>
              <a:rPr lang="zh-CN" altLang="zh-CN" sz="1200" dirty="0"/>
              <a:t>sigmoid for f/i/o, tanh for candidate g</a:t>
            </a:r>
            <a:br>
              <a:rPr lang="zh-CN" altLang="zh-CN" sz="1200" dirty="0"/>
            </a:br>
            <a:br>
              <a:rPr lang="zh-CN" altLang="zh-CN" sz="1200" dirty="0"/>
            </a:br>
            <a:r>
              <a:rPr lang="zh-CN" altLang="zh-CN" sz="1200" dirty="0"/>
              <a:t>• tanh8 is used after c_next is computed:</a:t>
            </a:r>
            <a:br>
              <a:rPr lang="zh-CN" altLang="zh-CN" sz="1200" dirty="0"/>
            </a:br>
            <a:r>
              <a:rPr lang="zh-CN" altLang="zh-CN" sz="1200" dirty="0"/>
              <a:t>h_next = o × tanh(c_next)</a:t>
            </a:r>
            <a:br>
              <a:rPr lang="zh-CN" altLang="zh-CN" sz="1200" dirty="0"/>
            </a:br>
            <a:br>
              <a:rPr lang="zh-CN" altLang="zh-CN" sz="1200" dirty="0"/>
            </a:br>
            <a:r>
              <a:rPr lang="zh-CN" altLang="zh-CN" sz="1200" dirty="0"/>
              <a:t>• They are separated because the inputs come from different stages:</a:t>
            </a:r>
            <a:br>
              <a:rPr lang="zh-CN" altLang="zh-CN" sz="1200" dirty="0"/>
            </a:br>
            <a:r>
              <a:rPr lang="zh-CN" altLang="zh-CN" sz="1200" dirty="0"/>
              <a:t>act_lut input = MAC accumulator</a:t>
            </a:r>
            <a:br>
              <a:rPr lang="zh-CN" altLang="zh-CN" sz="1200" dirty="0"/>
            </a:br>
            <a:r>
              <a:rPr lang="zh-CN" altLang="zh-CN" sz="1200" dirty="0"/>
              <a:t>tanh8 input = updated cell state c_next</a:t>
            </a:r>
            <a:endParaRPr lang="zh-CN" altLang="en-US" sz="1200" dirty="0"/>
          </a:p>
        </p:txBody>
      </p:sp>
      <p:sp>
        <p:nvSpPr>
          <p:cNvPr id="13" name="Rectangle 12">
            <a:extLst>
              <a:ext uri="{FF2B5EF4-FFF2-40B4-BE49-F238E27FC236}">
                <a16:creationId xmlns:a16="http://schemas.microsoft.com/office/drawing/2014/main" id="{00E58179-6288-B9A8-CC3D-9A0F24FC932C}"/>
              </a:ext>
            </a:extLst>
          </p:cNvPr>
          <p:cNvSpPr/>
          <p:nvPr/>
        </p:nvSpPr>
        <p:spPr>
          <a:xfrm>
            <a:off x="3143250" y="1104900"/>
            <a:ext cx="561975" cy="95250"/>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14" name="Rectangle 13">
            <a:extLst>
              <a:ext uri="{FF2B5EF4-FFF2-40B4-BE49-F238E27FC236}">
                <a16:creationId xmlns:a16="http://schemas.microsoft.com/office/drawing/2014/main" id="{257E74AF-00A1-3422-6DF4-F90F7C6FAA1E}"/>
              </a:ext>
            </a:extLst>
          </p:cNvPr>
          <p:cNvSpPr/>
          <p:nvPr/>
        </p:nvSpPr>
        <p:spPr>
          <a:xfrm>
            <a:off x="2400692" y="1514475"/>
            <a:ext cx="561975" cy="95250"/>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graphicFrame>
        <p:nvGraphicFramePr>
          <p:cNvPr id="410" name="Google Shape;410;p83"/>
          <p:cNvGraphicFramePr/>
          <p:nvPr>
            <p:extLst>
              <p:ext uri="{D42A27DB-BD31-4B8C-83A1-F6EECF244321}">
                <p14:modId xmlns:p14="http://schemas.microsoft.com/office/powerpoint/2010/main" val="3315092179"/>
              </p:ext>
            </p:extLst>
          </p:nvPr>
        </p:nvGraphicFramePr>
        <p:xfrm>
          <a:off x="173330" y="552381"/>
          <a:ext cx="9044412" cy="4244388"/>
        </p:xfrm>
        <a:graphic>
          <a:graphicData uri="http://schemas.openxmlformats.org/drawingml/2006/table">
            <a:tbl>
              <a:tblPr>
                <a:tableStyleId>{BDBED569-4797-4DF1-A0F4-6AAB3CD982D8}</a:tableStyleId>
              </a:tblPr>
              <a:tblGrid>
                <a:gridCol w="962296">
                  <a:extLst>
                    <a:ext uri="{9D8B030D-6E8A-4147-A177-3AD203B41FA5}">
                      <a16:colId xmlns:a16="http://schemas.microsoft.com/office/drawing/2014/main" val="20000"/>
                    </a:ext>
                  </a:extLst>
                </a:gridCol>
                <a:gridCol w="8082116">
                  <a:extLst>
                    <a:ext uri="{9D8B030D-6E8A-4147-A177-3AD203B41FA5}">
                      <a16:colId xmlns:a16="http://schemas.microsoft.com/office/drawing/2014/main" val="20001"/>
                    </a:ext>
                  </a:extLst>
                </a:gridCol>
              </a:tblGrid>
              <a:tr h="0">
                <a:tc>
                  <a:txBody>
                    <a:bodyPr/>
                    <a:lstStyle/>
                    <a:p>
                      <a:pPr marL="0" lvl="0" indent="0" algn="ctr" rtl="0">
                        <a:lnSpc>
                          <a:spcPct val="115000"/>
                        </a:lnSpc>
                        <a:spcBef>
                          <a:spcPts val="0"/>
                        </a:spcBef>
                        <a:spcAft>
                          <a:spcPts val="0"/>
                        </a:spcAft>
                        <a:buNone/>
                      </a:pPr>
                      <a:r>
                        <a:rPr lang="en" sz="1000" b="1" dirty="0"/>
                        <a:t>Block</a:t>
                      </a:r>
                      <a:endParaRPr sz="1000" b="1" dirty="0">
                        <a:latin typeface="+mn-lt"/>
                      </a:endParaRPr>
                    </a:p>
                  </a:txBody>
                  <a:tcPr marL="91425" marR="91425" marT="91425" marB="91425" anchor="ctr"/>
                </a:tc>
                <a:tc>
                  <a:txBody>
                    <a:bodyPr/>
                    <a:lstStyle/>
                    <a:p>
                      <a:pPr marL="0" lvl="0" indent="0" algn="ctr" rtl="0">
                        <a:lnSpc>
                          <a:spcPct val="115000"/>
                        </a:lnSpc>
                        <a:spcBef>
                          <a:spcPts val="0"/>
                        </a:spcBef>
                        <a:spcAft>
                          <a:spcPts val="0"/>
                        </a:spcAft>
                        <a:buNone/>
                      </a:pPr>
                      <a:r>
                        <a:rPr lang="en" sz="1000" b="1" dirty="0"/>
                        <a:t>Description</a:t>
                      </a:r>
                      <a:endParaRPr sz="1000" b="1" dirty="0">
                        <a:latin typeface="+mn-lt"/>
                      </a:endParaRPr>
                    </a:p>
                  </a:txBody>
                  <a:tcPr marL="91425" marR="91425" marT="91425" marB="91425" anchor="ctr"/>
                </a:tc>
                <a:extLst>
                  <a:ext uri="{0D108BD9-81ED-4DB2-BD59-A6C34878D82A}">
                    <a16:rowId xmlns:a16="http://schemas.microsoft.com/office/drawing/2014/main" val="10000"/>
                  </a:ext>
                </a:extLst>
              </a:tr>
              <a:tr h="681857">
                <a:tc>
                  <a:txBody>
                    <a:bodyPr/>
                    <a:lstStyle/>
                    <a:p>
                      <a:pPr marL="0" lvl="0" indent="0" algn="ctr" rtl="0">
                        <a:spcBef>
                          <a:spcPts val="0"/>
                        </a:spcBef>
                        <a:spcAft>
                          <a:spcPts val="0"/>
                        </a:spcAft>
                        <a:buNone/>
                      </a:pPr>
                      <a:r>
                        <a:rPr lang="zh-CN" altLang="zh-CN" sz="1100" dirty="0"/>
                        <a:t>lstm_top</a:t>
                      </a:r>
                      <a:endParaRPr sz="1100" b="1" dirty="0">
                        <a:latin typeface="+mn-lt"/>
                      </a:endParaRPr>
                    </a:p>
                  </a:txBody>
                  <a:tcPr marL="91425" marR="91425" marT="91425" marB="91425" anchor="ctr"/>
                </a:tc>
                <a:tc>
                  <a:txBody>
                    <a:bodyPr/>
                    <a:lstStyle/>
                    <a:p>
                      <a:pPr marL="0" lvl="0" indent="0" algn="l" rtl="0">
                        <a:spcBef>
                          <a:spcPts val="0"/>
                        </a:spcBef>
                        <a:spcAft>
                          <a:spcPts val="0"/>
                        </a:spcAft>
                        <a:buNone/>
                      </a:pPr>
                      <a:r>
                        <a:rPr lang="en-US" altLang="zh-CN" sz="1000" dirty="0"/>
                        <a:t>Top-level wrapper. It connects the host interface, </a:t>
                      </a:r>
                      <a:r>
                        <a:rPr lang="en-US" altLang="zh-CN" sz="1000" b="1" i="0" u="none" strike="noStrike" cap="none" dirty="0">
                          <a:solidFill>
                            <a:schemeClr val="accent2"/>
                          </a:solidFill>
                          <a:latin typeface="+mn-lt"/>
                          <a:ea typeface="+mn-ea"/>
                          <a:cs typeface="+mn-cs"/>
                          <a:sym typeface="Arial"/>
                        </a:rPr>
                        <a:t>LSTM core</a:t>
                      </a:r>
                      <a:r>
                        <a:rPr lang="en-US" altLang="zh-CN" sz="1000" dirty="0"/>
                        <a:t>, and SRAM wrapper. It also contains the SRAM ownership mux controlled by </a:t>
                      </a:r>
                      <a:r>
                        <a:rPr lang="en-US" altLang="zh-CN" sz="1000" b="1" i="1" dirty="0">
                          <a:solidFill>
                            <a:schemeClr val="accent1">
                              <a:lumMod val="75000"/>
                            </a:schemeClr>
                          </a:solidFill>
                          <a:effectLst/>
                        </a:rPr>
                        <a:t>busy</a:t>
                      </a:r>
                      <a:r>
                        <a:rPr lang="en-US" altLang="zh-CN" sz="1000" dirty="0"/>
                        <a:t>.</a:t>
                      </a:r>
                      <a:endParaRPr lang="en-US" altLang="zh-CN" sz="1000" b="1" i="0" u="none" strike="noStrike" cap="none" dirty="0">
                        <a:solidFill>
                          <a:schemeClr val="accent2"/>
                        </a:solidFill>
                        <a:latin typeface="+mn-lt"/>
                        <a:ea typeface="+mn-ea"/>
                        <a:cs typeface="+mn-cs"/>
                        <a:sym typeface="Arial"/>
                      </a:endParaRPr>
                    </a:p>
                    <a:p>
                      <a:pPr marL="0" lvl="0" indent="0" algn="l" rtl="0">
                        <a:spcBef>
                          <a:spcPts val="0"/>
                        </a:spcBef>
                        <a:spcAft>
                          <a:spcPts val="0"/>
                        </a:spcAft>
                        <a:buNone/>
                      </a:pPr>
                      <a:r>
                        <a:rPr lang="en-US" sz="1000" dirty="0"/>
                        <a:t>Internal assign logic inside </a:t>
                      </a:r>
                      <a:r>
                        <a:rPr lang="en-US" sz="1000" b="1" dirty="0" err="1">
                          <a:solidFill>
                            <a:schemeClr val="accent2"/>
                          </a:solidFill>
                        </a:rPr>
                        <a:t>lstm_top</a:t>
                      </a:r>
                      <a:r>
                        <a:rPr lang="en-US" sz="1000" dirty="0"/>
                        <a:t>. When busy=0, host signals drive </a:t>
                      </a:r>
                      <a:r>
                        <a:rPr lang="en-US" sz="1000" b="0" i="0" u="none" strike="noStrike" cap="none" dirty="0">
                          <a:solidFill>
                            <a:schemeClr val="tx1"/>
                          </a:solidFill>
                          <a:latin typeface="+mn-lt"/>
                          <a:ea typeface="+mn-ea"/>
                          <a:cs typeface="+mn-cs"/>
                          <a:sym typeface="Arial"/>
                        </a:rPr>
                        <a:t>SRAM</a:t>
                      </a:r>
                      <a:r>
                        <a:rPr lang="en-US" sz="1000" dirty="0"/>
                        <a:t>. When busy=1, </a:t>
                      </a:r>
                      <a:r>
                        <a:rPr lang="en-US" sz="1000" b="1" i="0" u="none" strike="noStrike" cap="none" dirty="0" err="1">
                          <a:solidFill>
                            <a:schemeClr val="accent2"/>
                          </a:solidFill>
                          <a:latin typeface="+mn-lt"/>
                          <a:ea typeface="+mn-ea"/>
                          <a:cs typeface="+mn-cs"/>
                          <a:sym typeface="Arial"/>
                        </a:rPr>
                        <a:t>lstm_core</a:t>
                      </a:r>
                      <a:r>
                        <a:rPr lang="en-US" sz="1000" b="1" i="0" u="none" strike="noStrike" cap="none" dirty="0">
                          <a:solidFill>
                            <a:schemeClr val="accent2"/>
                          </a:solidFill>
                          <a:latin typeface="+mn-lt"/>
                          <a:ea typeface="+mn-ea"/>
                          <a:cs typeface="+mn-cs"/>
                          <a:sym typeface="Arial"/>
                        </a:rPr>
                        <a:t> </a:t>
                      </a:r>
                      <a:r>
                        <a:rPr lang="en-US" sz="1000" dirty="0"/>
                        <a:t>signals drive </a:t>
                      </a:r>
                      <a:r>
                        <a:rPr lang="en-US" sz="1000" b="0" i="0" u="none" strike="noStrike" cap="none" dirty="0">
                          <a:solidFill>
                            <a:schemeClr val="tx1"/>
                          </a:solidFill>
                          <a:latin typeface="+mn-lt"/>
                          <a:ea typeface="+mn-ea"/>
                          <a:cs typeface="+mn-cs"/>
                          <a:sym typeface="Arial"/>
                        </a:rPr>
                        <a:t>SRAM</a:t>
                      </a:r>
                      <a:r>
                        <a:rPr lang="en-US" sz="1000" dirty="0"/>
                        <a:t>. This prevents host/core access conflict.</a:t>
                      </a:r>
                      <a:endParaRPr sz="1000" dirty="0">
                        <a:latin typeface="+mn-lt"/>
                      </a:endParaRPr>
                    </a:p>
                  </a:txBody>
                  <a:tcPr marL="91425" marR="91425" marT="91425" marB="91425" anchor="ctr"/>
                </a:tc>
                <a:extLst>
                  <a:ext uri="{0D108BD9-81ED-4DB2-BD59-A6C34878D82A}">
                    <a16:rowId xmlns:a16="http://schemas.microsoft.com/office/drawing/2014/main" val="10001"/>
                  </a:ext>
                </a:extLst>
              </a:tr>
              <a:tr h="436103">
                <a:tc>
                  <a:txBody>
                    <a:bodyPr/>
                    <a:lstStyle/>
                    <a:p>
                      <a:pPr marL="0" lvl="0" indent="0" algn="ctr" rtl="0">
                        <a:spcBef>
                          <a:spcPts val="0"/>
                        </a:spcBef>
                        <a:spcAft>
                          <a:spcPts val="0"/>
                        </a:spcAft>
                        <a:buNone/>
                      </a:pPr>
                      <a:r>
                        <a:rPr lang="zh-CN" altLang="zh-CN" sz="1100" dirty="0"/>
                        <a:t>lstm_core</a:t>
                      </a:r>
                      <a:endParaRPr sz="1100" b="1" dirty="0">
                        <a:latin typeface="+mn-lt"/>
                      </a:endParaRPr>
                    </a:p>
                  </a:txBody>
                  <a:tcPr marL="91425" marR="91425" marT="91425" marB="91425" anchor="ctr"/>
                </a:tc>
                <a:tc>
                  <a:txBody>
                    <a:bodyPr/>
                    <a:lstStyle/>
                    <a:p>
                      <a:pPr marL="0" lvl="0" indent="0" algn="l" rtl="0">
                        <a:spcBef>
                          <a:spcPts val="0"/>
                        </a:spcBef>
                        <a:spcAft>
                          <a:spcPts val="0"/>
                        </a:spcAft>
                        <a:buNone/>
                      </a:pPr>
                      <a:r>
                        <a:rPr lang="en-US" altLang="zh-CN" sz="1000" dirty="0"/>
                        <a:t>Main computation controller. </a:t>
                      </a:r>
                    </a:p>
                    <a:p>
                      <a:pPr marL="0" lvl="0" indent="0" algn="l" rtl="0">
                        <a:spcBef>
                          <a:spcPts val="0"/>
                        </a:spcBef>
                        <a:spcAft>
                          <a:spcPts val="0"/>
                        </a:spcAft>
                        <a:buNone/>
                      </a:pPr>
                      <a:r>
                        <a:rPr lang="en-US" altLang="zh-CN" sz="1000" dirty="0"/>
                        <a:t>It runs the LSTM FSM, reads data from SRAM, computes gates sequentially, updates cell/hidden states, and writes results back to SRAM.</a:t>
                      </a:r>
                      <a:endParaRPr sz="1000" dirty="0">
                        <a:latin typeface="+mn-lt"/>
                      </a:endParaRPr>
                    </a:p>
                  </a:txBody>
                  <a:tcPr marL="91425" marR="91425" marT="91425" marB="91425" anchor="ctr"/>
                </a:tc>
                <a:extLst>
                  <a:ext uri="{0D108BD9-81ED-4DB2-BD59-A6C34878D82A}">
                    <a16:rowId xmlns:a16="http://schemas.microsoft.com/office/drawing/2014/main" val="10002"/>
                  </a:ext>
                </a:extLst>
              </a:tr>
              <a:tr h="472047">
                <a:tc>
                  <a:txBody>
                    <a:bodyPr/>
                    <a:lstStyle/>
                    <a:p>
                      <a:pPr marL="0" lvl="0" indent="0" algn="ctr" rtl="0">
                        <a:spcBef>
                          <a:spcPts val="0"/>
                        </a:spcBef>
                        <a:spcAft>
                          <a:spcPts val="0"/>
                        </a:spcAft>
                        <a:buNone/>
                      </a:pPr>
                      <a:r>
                        <a:rPr lang="zh-CN" altLang="zh-CN" sz="1100" dirty="0"/>
                        <a:t>sram_wrap</a:t>
                      </a:r>
                      <a:endParaRPr sz="1100" b="1" dirty="0">
                        <a:latin typeface="+mn-lt"/>
                      </a:endParaRPr>
                    </a:p>
                  </a:txBody>
                  <a:tcPr marL="91425" marR="91425" marT="91425" marB="91425" anchor="ctr"/>
                </a:tc>
                <a:tc>
                  <a:txBody>
                    <a:bodyPr/>
                    <a:lstStyle/>
                    <a:p>
                      <a:pPr marL="0" lvl="0" indent="0" algn="l" rtl="0">
                        <a:spcBef>
                          <a:spcPts val="0"/>
                        </a:spcBef>
                        <a:spcAft>
                          <a:spcPts val="0"/>
                        </a:spcAft>
                        <a:buNone/>
                      </a:pPr>
                      <a:r>
                        <a:rPr lang="zh-CN" altLang="zh-CN" sz="1000" dirty="0"/>
                        <a:t>Interface adapter between RTL logic and the GF180 SRAM macro. </a:t>
                      </a:r>
                      <a:endParaRPr lang="en-US" altLang="zh-CN" sz="1000" dirty="0"/>
                    </a:p>
                    <a:p>
                      <a:pPr marL="0" lvl="0" indent="0" algn="l" rtl="0">
                        <a:spcBef>
                          <a:spcPts val="0"/>
                        </a:spcBef>
                        <a:spcAft>
                          <a:spcPts val="0"/>
                        </a:spcAft>
                        <a:buNone/>
                      </a:pPr>
                      <a:r>
                        <a:rPr lang="zh-CN" altLang="zh-CN" sz="1000" dirty="0"/>
                        <a:t>It converts simple active-high </a:t>
                      </a:r>
                      <a:r>
                        <a:rPr lang="zh-CN" altLang="zh-CN" sz="1000" b="1" i="1" u="none" strike="noStrike" cap="none" dirty="0">
                          <a:solidFill>
                            <a:schemeClr val="accent1">
                              <a:lumMod val="75000"/>
                            </a:schemeClr>
                          </a:solidFill>
                          <a:effectLst/>
                          <a:latin typeface="+mn-lt"/>
                          <a:ea typeface="+mn-ea"/>
                          <a:cs typeface="+mn-cs"/>
                          <a:sym typeface="Arial"/>
                        </a:rPr>
                        <a:t>en/we</a:t>
                      </a:r>
                      <a:r>
                        <a:rPr lang="zh-CN" altLang="zh-CN" sz="1000" dirty="0"/>
                        <a:t> controls into the SRAM macro</a:t>
                      </a:r>
                      <a:r>
                        <a:rPr lang="en-US" altLang="zh-CN" sz="1000" dirty="0"/>
                        <a:t>’ </a:t>
                      </a:r>
                      <a:r>
                        <a:rPr lang="zh-CN" altLang="zh-CN" sz="1000" dirty="0"/>
                        <a:t>s active-low control signals.</a:t>
                      </a:r>
                      <a:endParaRPr sz="1000" dirty="0">
                        <a:latin typeface="+mn-lt"/>
                      </a:endParaRPr>
                    </a:p>
                  </a:txBody>
                  <a:tcPr marL="91425" marR="91425" marT="91425" marB="91425" anchor="ctr"/>
                </a:tc>
                <a:extLst>
                  <a:ext uri="{0D108BD9-81ED-4DB2-BD59-A6C34878D82A}">
                    <a16:rowId xmlns:a16="http://schemas.microsoft.com/office/drawing/2014/main" val="10003"/>
                  </a:ext>
                </a:extLst>
              </a:tr>
              <a:tr h="338469">
                <a:tc>
                  <a:txBody>
                    <a:bodyPr/>
                    <a:lstStyle/>
                    <a:p>
                      <a:pPr marL="0" lvl="0" indent="0" algn="ctr" rtl="0">
                        <a:spcBef>
                          <a:spcPts val="0"/>
                        </a:spcBef>
                        <a:spcAft>
                          <a:spcPts val="0"/>
                        </a:spcAft>
                        <a:buNone/>
                      </a:pPr>
                      <a:r>
                        <a:rPr lang="zh-CN" altLang="zh-CN" sz="900" dirty="0"/>
                        <a:t>GF180 SRAM Macro</a:t>
                      </a:r>
                      <a:endParaRPr sz="900" b="1" dirty="0">
                        <a:latin typeface="+mn-lt"/>
                      </a:endParaRPr>
                    </a:p>
                  </a:txBody>
                  <a:tcPr marL="91425" marR="91425" marT="91425" marB="91425" anchor="ctr"/>
                </a:tc>
                <a:tc>
                  <a:txBody>
                    <a:bodyPr/>
                    <a:lstStyle/>
                    <a:p>
                      <a:pPr marL="0" lvl="0" indent="0" algn="l" rtl="0">
                        <a:spcBef>
                          <a:spcPts val="0"/>
                        </a:spcBef>
                        <a:spcAft>
                          <a:spcPts val="0"/>
                        </a:spcAft>
                        <a:buNone/>
                      </a:pPr>
                      <a:r>
                        <a:rPr lang="zh-CN" altLang="zh-CN" sz="1000" dirty="0"/>
                        <a:t>128×8 on-chip SRAM used as unified storage for </a:t>
                      </a:r>
                      <a:r>
                        <a:rPr lang="zh-CN" altLang="zh-CN" sz="1000" b="1" i="1" u="none" strike="noStrike" cap="none" dirty="0">
                          <a:solidFill>
                            <a:schemeClr val="accent1">
                              <a:lumMod val="75000"/>
                            </a:schemeClr>
                          </a:solidFill>
                          <a:effectLst/>
                          <a:latin typeface="+mn-lt"/>
                          <a:ea typeface="+mn-ea"/>
                          <a:cs typeface="+mn-cs"/>
                          <a:sym typeface="Arial"/>
                        </a:rPr>
                        <a:t>weights, biases, input vectors, states, and output results</a:t>
                      </a:r>
                      <a:r>
                        <a:rPr lang="zh-CN" altLang="zh-CN" sz="1000" dirty="0"/>
                        <a:t>.</a:t>
                      </a:r>
                      <a:endParaRPr sz="1000" dirty="0">
                        <a:latin typeface="+mn-lt"/>
                      </a:endParaRPr>
                    </a:p>
                  </a:txBody>
                  <a:tcPr marL="91425" marR="91425" marT="91425" marB="91425" anchor="ctr"/>
                </a:tc>
                <a:extLst>
                  <a:ext uri="{0D108BD9-81ED-4DB2-BD59-A6C34878D82A}">
                    <a16:rowId xmlns:a16="http://schemas.microsoft.com/office/drawing/2014/main" val="2169290418"/>
                  </a:ext>
                </a:extLst>
              </a:tr>
              <a:tr h="335304">
                <a:tc>
                  <a:txBody>
                    <a:bodyPr/>
                    <a:lstStyle/>
                    <a:p>
                      <a:pPr marL="0" lvl="0" indent="0" algn="ctr" rtl="0">
                        <a:spcBef>
                          <a:spcPts val="0"/>
                        </a:spcBef>
                        <a:spcAft>
                          <a:spcPts val="0"/>
                        </a:spcAft>
                        <a:buNone/>
                      </a:pPr>
                      <a:r>
                        <a:rPr lang="zh-CN" altLang="zh-CN" sz="1100" dirty="0"/>
                        <a:t>mul8</a:t>
                      </a:r>
                      <a:endParaRPr sz="1100" b="1" dirty="0"/>
                    </a:p>
                  </a:txBody>
                  <a:tcPr marL="91425" marR="91425" marT="91425" marB="91425" anchor="ctr"/>
                </a:tc>
                <a:tc>
                  <a:txBody>
                    <a:bodyPr/>
                    <a:lstStyle/>
                    <a:p>
                      <a:pPr marL="0" marR="0" lvl="0" indent="0" algn="l" rtl="0">
                        <a:lnSpc>
                          <a:spcPct val="100000"/>
                        </a:lnSpc>
                        <a:spcBef>
                          <a:spcPts val="0"/>
                        </a:spcBef>
                        <a:spcAft>
                          <a:spcPts val="0"/>
                        </a:spcAft>
                        <a:buClr>
                          <a:srgbClr val="000000"/>
                        </a:buClr>
                        <a:buFont typeface="Arial"/>
                        <a:buNone/>
                      </a:pPr>
                      <a:r>
                        <a:rPr lang="zh-CN" altLang="zh-CN" sz="1000" b="0" u="none" strike="noStrike" cap="none" dirty="0">
                          <a:solidFill>
                            <a:schemeClr val="tx1"/>
                          </a:solidFill>
                          <a:sym typeface="Arial"/>
                        </a:rPr>
                        <a:t>Signed 8×8 combinational multiplier. It is </a:t>
                      </a:r>
                      <a:r>
                        <a:rPr lang="zh-CN" altLang="zh-CN" sz="1000" b="1" i="1" u="none" strike="noStrike" cap="none" dirty="0">
                          <a:solidFill>
                            <a:schemeClr val="accent1">
                              <a:lumMod val="75000"/>
                            </a:schemeClr>
                          </a:solidFill>
                          <a:effectLst/>
                          <a:latin typeface="+mn-lt"/>
                          <a:ea typeface="+mn-ea"/>
                          <a:cs typeface="+mn-cs"/>
                          <a:sym typeface="Arial"/>
                        </a:rPr>
                        <a:t>reused sequentially</a:t>
                      </a:r>
                      <a:r>
                        <a:rPr lang="zh-CN" altLang="zh-CN" sz="1000" b="0" u="none" strike="noStrike" cap="none" dirty="0">
                          <a:solidFill>
                            <a:schemeClr val="tx1"/>
                          </a:solidFill>
                          <a:sym typeface="Arial"/>
                        </a:rPr>
                        <a:t> for dot-product accumulation and state-update products to reduce area.</a:t>
                      </a:r>
                      <a:endParaRPr sz="1000" b="0" i="0" u="none" strike="noStrike" cap="none" dirty="0">
                        <a:solidFill>
                          <a:schemeClr val="tx1"/>
                        </a:solidFill>
                        <a:latin typeface="+mn-lt"/>
                        <a:ea typeface="+mn-ea"/>
                        <a:cs typeface="+mn-cs"/>
                        <a:sym typeface="Arial"/>
                      </a:endParaRPr>
                    </a:p>
                  </a:txBody>
                  <a:tcPr marL="91425" marR="91425" marT="91425" marB="91425" anchor="ctr"/>
                </a:tc>
                <a:extLst>
                  <a:ext uri="{0D108BD9-81ED-4DB2-BD59-A6C34878D82A}">
                    <a16:rowId xmlns:a16="http://schemas.microsoft.com/office/drawing/2014/main" val="2737300467"/>
                  </a:ext>
                </a:extLst>
              </a:tr>
              <a:tr h="324713">
                <a:tc>
                  <a:txBody>
                    <a:bodyPr/>
                    <a:lstStyle/>
                    <a:p>
                      <a:pPr marL="0" lvl="0" indent="0" algn="ctr" rtl="0">
                        <a:spcBef>
                          <a:spcPts val="0"/>
                        </a:spcBef>
                        <a:spcAft>
                          <a:spcPts val="0"/>
                        </a:spcAft>
                        <a:buNone/>
                      </a:pPr>
                      <a:r>
                        <a:rPr lang="zh-CN" altLang="zh-CN" sz="1100" dirty="0"/>
                        <a:t>gate_regs</a:t>
                      </a:r>
                      <a:endParaRPr sz="1100" b="1" dirty="0"/>
                    </a:p>
                  </a:txBody>
                  <a:tcPr marL="91425" marR="91425" marT="91425" marB="91425" anchor="ctr"/>
                </a:tc>
                <a:tc>
                  <a:txBody>
                    <a:bodyPr/>
                    <a:lstStyle/>
                    <a:p>
                      <a:pPr marL="0" marR="0" lvl="0" indent="0" algn="l" rtl="0">
                        <a:lnSpc>
                          <a:spcPct val="100000"/>
                        </a:lnSpc>
                        <a:spcBef>
                          <a:spcPts val="0"/>
                        </a:spcBef>
                        <a:spcAft>
                          <a:spcPts val="0"/>
                        </a:spcAft>
                        <a:buClr>
                          <a:srgbClr val="000000"/>
                        </a:buClr>
                        <a:buFont typeface="Arial"/>
                        <a:buNone/>
                      </a:pPr>
                      <a:r>
                        <a:rPr lang="zh-CN" altLang="zh-CN" sz="1000" b="0" u="none" strike="noStrike" cap="none" dirty="0">
                          <a:solidFill>
                            <a:schemeClr val="tx1"/>
                          </a:solidFill>
                          <a:sym typeface="Arial"/>
                        </a:rPr>
                        <a:t>Stores the </a:t>
                      </a:r>
                      <a:r>
                        <a:rPr lang="zh-CN" altLang="zh-CN" sz="1000" b="1" i="1" u="none" strike="noStrike" cap="none" dirty="0">
                          <a:solidFill>
                            <a:schemeClr val="accent1">
                              <a:lumMod val="75000"/>
                            </a:schemeClr>
                          </a:solidFill>
                          <a:effectLst/>
                          <a:latin typeface="+mn-lt"/>
                          <a:ea typeface="+mn-ea"/>
                          <a:cs typeface="+mn-cs"/>
                          <a:sym typeface="Arial"/>
                        </a:rPr>
                        <a:t>four activated LSTM gate</a:t>
                      </a:r>
                      <a:r>
                        <a:rPr lang="zh-CN" altLang="zh-CN" sz="1000" b="0" u="none" strike="noStrike" cap="none" dirty="0">
                          <a:solidFill>
                            <a:schemeClr val="tx1"/>
                          </a:solidFill>
                          <a:sym typeface="Arial"/>
                        </a:rPr>
                        <a:t> values: forget f, input i, candidate g, and output o.</a:t>
                      </a:r>
                      <a:endParaRPr lang="zh-CN" altLang="en-US" sz="1000" b="0" i="0" u="none" strike="noStrike" cap="none" dirty="0">
                        <a:solidFill>
                          <a:schemeClr val="tx1"/>
                        </a:solidFill>
                        <a:latin typeface="+mn-lt"/>
                        <a:ea typeface="+mn-ea"/>
                        <a:cs typeface="+mn-cs"/>
                        <a:sym typeface="Arial"/>
                      </a:endParaRPr>
                    </a:p>
                  </a:txBody>
                  <a:tcPr anchor="ctr"/>
                </a:tc>
                <a:extLst>
                  <a:ext uri="{0D108BD9-81ED-4DB2-BD59-A6C34878D82A}">
                    <a16:rowId xmlns:a16="http://schemas.microsoft.com/office/drawing/2014/main" val="949636534"/>
                  </a:ext>
                </a:extLst>
              </a:tr>
              <a:tr h="296016">
                <a:tc>
                  <a:txBody>
                    <a:bodyPr/>
                    <a:lstStyle/>
                    <a:p>
                      <a:pPr marL="0" lvl="0" indent="0" algn="ctr" rtl="0">
                        <a:spcBef>
                          <a:spcPts val="0"/>
                        </a:spcBef>
                        <a:spcAft>
                          <a:spcPts val="0"/>
                        </a:spcAft>
                        <a:buNone/>
                      </a:pPr>
                      <a:r>
                        <a:rPr lang="zh-CN" altLang="zh-CN" sz="1100" dirty="0"/>
                        <a:t>act_lut</a:t>
                      </a:r>
                      <a:endParaRPr sz="1100" b="1" dirty="0"/>
                    </a:p>
                  </a:txBody>
                  <a:tcPr marL="91425" marR="91425" marT="91425" marB="91425" anchor="ctr"/>
                </a:tc>
                <a:tc>
                  <a:txBody>
                    <a:bodyPr/>
                    <a:lstStyle/>
                    <a:p>
                      <a:pPr marL="0" marR="0" lvl="0" indent="0" algn="l" rtl="0">
                        <a:lnSpc>
                          <a:spcPct val="100000"/>
                        </a:lnSpc>
                        <a:spcBef>
                          <a:spcPts val="0"/>
                        </a:spcBef>
                        <a:spcAft>
                          <a:spcPts val="0"/>
                        </a:spcAft>
                        <a:buClr>
                          <a:srgbClr val="000000"/>
                        </a:buClr>
                        <a:buFont typeface="Arial"/>
                        <a:buNone/>
                      </a:pPr>
                      <a:r>
                        <a:rPr lang="zh-CN" altLang="zh-CN" sz="1000" b="0" u="none" strike="noStrike" cap="none" dirty="0">
                          <a:solidFill>
                            <a:schemeClr val="tx1"/>
                          </a:solidFill>
                          <a:sym typeface="Arial"/>
                        </a:rPr>
                        <a:t>Activation lookup table for gate outputs. </a:t>
                      </a:r>
                      <a:endParaRPr lang="en-US" altLang="zh-CN" sz="1000" b="0" u="none" strike="noStrike" cap="none" dirty="0">
                        <a:solidFill>
                          <a:schemeClr val="tx1"/>
                        </a:solidFill>
                        <a:sym typeface="Arial"/>
                      </a:endParaRPr>
                    </a:p>
                    <a:p>
                      <a:pPr marL="0" marR="0" lvl="0" indent="0" algn="l" rtl="0">
                        <a:lnSpc>
                          <a:spcPct val="100000"/>
                        </a:lnSpc>
                        <a:spcBef>
                          <a:spcPts val="0"/>
                        </a:spcBef>
                        <a:spcAft>
                          <a:spcPts val="0"/>
                        </a:spcAft>
                        <a:buClr>
                          <a:srgbClr val="000000"/>
                        </a:buClr>
                        <a:buFont typeface="Arial"/>
                        <a:buNone/>
                      </a:pPr>
                      <a:r>
                        <a:rPr lang="zh-CN" altLang="zh-CN" sz="1000" b="0" u="none" strike="noStrike" cap="none" dirty="0">
                          <a:solidFill>
                            <a:schemeClr val="tx1"/>
                          </a:solidFill>
                          <a:sym typeface="Arial"/>
                        </a:rPr>
                        <a:t>It provides </a:t>
                      </a:r>
                      <a:r>
                        <a:rPr lang="zh-CN" altLang="zh-CN" sz="1000" b="1" i="1" u="none" strike="noStrike" cap="none" dirty="0">
                          <a:solidFill>
                            <a:schemeClr val="accent1">
                              <a:lumMod val="75000"/>
                            </a:schemeClr>
                          </a:solidFill>
                          <a:effectLst/>
                          <a:latin typeface="+mn-lt"/>
                          <a:ea typeface="+mn-ea"/>
                          <a:cs typeface="+mn-cs"/>
                          <a:sym typeface="Arial"/>
                        </a:rPr>
                        <a:t>sigmoid-style activation for f/i/o </a:t>
                      </a:r>
                      <a:r>
                        <a:rPr lang="zh-CN" altLang="zh-CN" sz="1000" b="0" u="none" strike="noStrike" cap="none" dirty="0">
                          <a:solidFill>
                            <a:schemeClr val="tx1"/>
                          </a:solidFill>
                          <a:sym typeface="Arial"/>
                        </a:rPr>
                        <a:t>gates and </a:t>
                      </a:r>
                      <a:r>
                        <a:rPr lang="zh-CN" altLang="zh-CN" sz="1000" b="1" i="1" u="none" strike="noStrike" cap="none" dirty="0">
                          <a:solidFill>
                            <a:schemeClr val="accent1">
                              <a:lumMod val="75000"/>
                            </a:schemeClr>
                          </a:solidFill>
                          <a:effectLst/>
                          <a:latin typeface="+mn-lt"/>
                          <a:ea typeface="+mn-ea"/>
                          <a:cs typeface="+mn-cs"/>
                          <a:sym typeface="Arial"/>
                        </a:rPr>
                        <a:t>tanh-style activation for the candidate g gate.</a:t>
                      </a:r>
                      <a:endParaRPr sz="1000" b="1" i="1" u="none" strike="noStrike" cap="none" dirty="0">
                        <a:solidFill>
                          <a:schemeClr val="accent1">
                            <a:lumMod val="75000"/>
                          </a:schemeClr>
                        </a:solidFill>
                        <a:effectLst/>
                        <a:latin typeface="+mn-lt"/>
                        <a:ea typeface="+mn-ea"/>
                        <a:cs typeface="+mn-cs"/>
                        <a:sym typeface="Arial"/>
                      </a:endParaRPr>
                    </a:p>
                  </a:txBody>
                  <a:tcPr marL="91425" marR="91425" marT="91425" marB="91425" anchor="ctr"/>
                </a:tc>
                <a:extLst>
                  <a:ext uri="{0D108BD9-81ED-4DB2-BD59-A6C34878D82A}">
                    <a16:rowId xmlns:a16="http://schemas.microsoft.com/office/drawing/2014/main" val="1071909022"/>
                  </a:ext>
                </a:extLst>
              </a:tr>
              <a:tr h="216341">
                <a:tc>
                  <a:txBody>
                    <a:bodyPr/>
                    <a:lstStyle/>
                    <a:p>
                      <a:pPr marL="0" lvl="0" indent="0" algn="ctr" rtl="0">
                        <a:spcBef>
                          <a:spcPts val="0"/>
                        </a:spcBef>
                        <a:spcAft>
                          <a:spcPts val="0"/>
                        </a:spcAft>
                        <a:buNone/>
                      </a:pPr>
                      <a:r>
                        <a:rPr lang="zh-CN" altLang="zh-CN" sz="1100" dirty="0"/>
                        <a:t>tanh8</a:t>
                      </a:r>
                      <a:endParaRPr sz="1100" b="1" dirty="0"/>
                    </a:p>
                  </a:txBody>
                  <a:tcPr marL="91425" marR="91425" marT="91425" marB="91425" anchor="ctr"/>
                </a:tc>
                <a:tc>
                  <a:txBody>
                    <a:bodyPr/>
                    <a:lstStyle/>
                    <a:p>
                      <a:pPr marL="0" marR="0" lvl="0" indent="0" algn="l" rtl="0">
                        <a:lnSpc>
                          <a:spcPct val="100000"/>
                        </a:lnSpc>
                        <a:spcBef>
                          <a:spcPts val="0"/>
                        </a:spcBef>
                        <a:spcAft>
                          <a:spcPts val="0"/>
                        </a:spcAft>
                        <a:buClr>
                          <a:srgbClr val="000000"/>
                        </a:buClr>
                        <a:buFont typeface="Arial"/>
                        <a:buNone/>
                      </a:pPr>
                      <a:r>
                        <a:rPr lang="zh-CN" altLang="zh-CN" sz="1000" b="0" u="none" strike="noStrike" cap="none" dirty="0">
                          <a:solidFill>
                            <a:schemeClr val="tx1"/>
                          </a:solidFill>
                          <a:sym typeface="Arial"/>
                        </a:rPr>
                        <a:t>Separate tanh lookup table used after cell-state update. </a:t>
                      </a:r>
                      <a:endParaRPr lang="en-US" altLang="zh-CN" sz="1000" b="0" u="none" strike="noStrike" cap="none" dirty="0">
                        <a:solidFill>
                          <a:schemeClr val="tx1"/>
                        </a:solidFill>
                        <a:sym typeface="Arial"/>
                      </a:endParaRPr>
                    </a:p>
                    <a:p>
                      <a:pPr marL="0" marR="0" lvl="0" indent="0" algn="l" rtl="0">
                        <a:lnSpc>
                          <a:spcPct val="100000"/>
                        </a:lnSpc>
                        <a:spcBef>
                          <a:spcPts val="0"/>
                        </a:spcBef>
                        <a:spcAft>
                          <a:spcPts val="0"/>
                        </a:spcAft>
                        <a:buClr>
                          <a:srgbClr val="000000"/>
                        </a:buClr>
                        <a:buFont typeface="Arial"/>
                        <a:buNone/>
                      </a:pPr>
                      <a:r>
                        <a:rPr lang="zh-CN" altLang="zh-CN" sz="1000" b="0" u="none" strike="noStrike" cap="none" dirty="0">
                          <a:solidFill>
                            <a:schemeClr val="tx1"/>
                          </a:solidFill>
                          <a:sym typeface="Arial"/>
                        </a:rPr>
                        <a:t>It computes </a:t>
                      </a:r>
                      <a:r>
                        <a:rPr lang="zh-CN" altLang="zh-CN" sz="1000" b="1" i="1" u="none" strike="noStrike" cap="none" dirty="0">
                          <a:solidFill>
                            <a:schemeClr val="accent1">
                              <a:lumMod val="75000"/>
                            </a:schemeClr>
                          </a:solidFill>
                          <a:effectLst/>
                          <a:latin typeface="+mn-lt"/>
                          <a:ea typeface="+mn-ea"/>
                          <a:cs typeface="+mn-cs"/>
                          <a:sym typeface="Arial"/>
                        </a:rPr>
                        <a:t>tanh(c_next)</a:t>
                      </a:r>
                      <a:r>
                        <a:rPr lang="zh-CN" altLang="zh-CN" sz="1000" b="0" u="none" strike="noStrike" cap="none" dirty="0">
                          <a:solidFill>
                            <a:schemeClr val="tx1"/>
                          </a:solidFill>
                          <a:sym typeface="Arial"/>
                        </a:rPr>
                        <a:t> for the hidden-state equation </a:t>
                      </a:r>
                      <a:r>
                        <a:rPr lang="zh-CN" altLang="zh-CN" sz="1000" b="1" i="1" u="none" strike="noStrike" cap="none" dirty="0">
                          <a:solidFill>
                            <a:schemeClr val="accent1">
                              <a:lumMod val="75000"/>
                            </a:schemeClr>
                          </a:solidFill>
                          <a:effectLst/>
                          <a:latin typeface="+mn-lt"/>
                          <a:ea typeface="+mn-ea"/>
                          <a:cs typeface="+mn-cs"/>
                          <a:sym typeface="Arial"/>
                        </a:rPr>
                        <a:t>h_next = o × tanh(c_next)</a:t>
                      </a:r>
                      <a:r>
                        <a:rPr lang="zh-CN" altLang="zh-CN" sz="1000" b="0" u="none" strike="noStrike" cap="none" dirty="0">
                          <a:solidFill>
                            <a:schemeClr val="tx1"/>
                          </a:solidFill>
                          <a:sym typeface="Arial"/>
                        </a:rPr>
                        <a:t>.</a:t>
                      </a:r>
                      <a:endParaRPr sz="1000" b="0" i="0" u="none" strike="noStrike" cap="none" dirty="0">
                        <a:solidFill>
                          <a:schemeClr val="tx1"/>
                        </a:solidFill>
                        <a:latin typeface="+mn-lt"/>
                        <a:ea typeface="+mn-ea"/>
                        <a:cs typeface="+mn-cs"/>
                        <a:sym typeface="Arial"/>
                      </a:endParaRPr>
                    </a:p>
                  </a:txBody>
                  <a:tcPr marL="91425" marR="91425" marT="91425" marB="91425" anchor="ctr"/>
                </a:tc>
                <a:extLst>
                  <a:ext uri="{0D108BD9-81ED-4DB2-BD59-A6C34878D82A}">
                    <a16:rowId xmlns:a16="http://schemas.microsoft.com/office/drawing/2014/main" val="4026792364"/>
                  </a:ext>
                </a:extLst>
              </a:tr>
            </a:tbl>
          </a:graphicData>
        </a:graphic>
      </p:graphicFrame>
      <p:sp>
        <p:nvSpPr>
          <p:cNvPr id="4" name="Google Shape;390;p81">
            <a:extLst>
              <a:ext uri="{FF2B5EF4-FFF2-40B4-BE49-F238E27FC236}">
                <a16:creationId xmlns:a16="http://schemas.microsoft.com/office/drawing/2014/main" id="{37941A17-7BEE-EC1E-E3E2-15E1D795EEA3}"/>
              </a:ext>
            </a:extLst>
          </p:cNvPr>
          <p:cNvSpPr txBox="1">
            <a:spLocks/>
          </p:cNvSpPr>
          <p:nvPr/>
        </p:nvSpPr>
        <p:spPr>
          <a:xfrm>
            <a:off x="0" y="32791"/>
            <a:ext cx="3467100" cy="583500"/>
          </a:xfrm>
          <a:prstGeom prst="rect">
            <a:avLst/>
          </a:prstGeom>
          <a:noFill/>
          <a:ln>
            <a:noFill/>
          </a:ln>
        </p:spPr>
        <p:txBody>
          <a:bodyPr spcFirstLastPara="1" wrap="square" lIns="68575" tIns="34275" rIns="68575" bIns="34275" anchor="b" anchorCtr="0">
            <a:noAutofit/>
          </a:bodyPr>
          <a:lstStyle>
            <a:defPPr marR="0" lvl="0" algn="l" rtl="0">
              <a:lnSpc>
                <a:spcPct val="100000"/>
              </a:lnSpc>
              <a:spcBef>
                <a:spcPts val="0"/>
              </a:spcBef>
              <a:spcAft>
                <a:spcPts val="0"/>
              </a:spcAft>
            </a:defPPr>
            <a:lvl1pPr marL="457200" marR="0" lvl="0" indent="-228600" algn="l" rtl="0">
              <a:lnSpc>
                <a:spcPct val="100000"/>
              </a:lnSpc>
              <a:spcBef>
                <a:spcPts val="300"/>
              </a:spcBef>
              <a:spcAft>
                <a:spcPts val="0"/>
              </a:spcAft>
              <a:buClr>
                <a:srgbClr val="000000"/>
              </a:buClr>
              <a:buSzPts val="1200"/>
              <a:buFont typeface="Verdana"/>
              <a:buNone/>
              <a:defRPr sz="1500" b="0" i="0" u="none" strike="noStrike" cap="none">
                <a:solidFill>
                  <a:srgbClr val="000000"/>
                </a:solidFill>
                <a:latin typeface="Arial"/>
                <a:ea typeface="Arial"/>
                <a:cs typeface="Arial"/>
                <a:sym typeface="Arial"/>
              </a:defRPr>
            </a:lvl1pPr>
            <a:lvl2pPr marL="914400" marR="0" lvl="1" indent="-228600" algn="l" rtl="0">
              <a:lnSpc>
                <a:spcPct val="100000"/>
              </a:lnSpc>
              <a:spcBef>
                <a:spcPts val="300"/>
              </a:spcBef>
              <a:spcAft>
                <a:spcPts val="0"/>
              </a:spcAft>
              <a:buClr>
                <a:srgbClr val="000000"/>
              </a:buClr>
              <a:buSzPts val="1400"/>
              <a:buFont typeface="Verdana"/>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20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3pPr>
            <a:lvl4pPr marL="1828800" marR="0" lvl="3" indent="-228600" algn="l" rtl="0">
              <a:lnSpc>
                <a:spcPct val="100000"/>
              </a:lnSpc>
              <a:spcBef>
                <a:spcPts val="200"/>
              </a:spcBef>
              <a:spcAft>
                <a:spcPts val="0"/>
              </a:spcAft>
              <a:buClr>
                <a:srgbClr val="000000"/>
              </a:buClr>
              <a:buSzPts val="1100"/>
              <a:buFont typeface="Verdana"/>
              <a:buNone/>
              <a:defRPr sz="1100" b="0" i="0" u="none" strike="noStrike" cap="none">
                <a:solidFill>
                  <a:srgbClr val="000000"/>
                </a:solidFill>
                <a:latin typeface="Arial"/>
                <a:ea typeface="Arial"/>
                <a:cs typeface="Arial"/>
                <a:sym typeface="Arial"/>
              </a:defRPr>
            </a:lvl4pPr>
            <a:lvl5pPr marL="2286000" marR="0" lvl="4" indent="-228600" algn="l" rtl="0">
              <a:lnSpc>
                <a:spcPct val="100000"/>
              </a:lnSpc>
              <a:spcBef>
                <a:spcPts val="20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L="2743200" marR="0" lvl="5" indent="-228600" algn="l" rtl="0">
              <a:lnSpc>
                <a:spcPct val="100000"/>
              </a:lnSpc>
              <a:spcBef>
                <a:spcPts val="20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L="3200400" marR="0" lvl="6" indent="-228600" algn="l" rtl="0">
              <a:lnSpc>
                <a:spcPct val="100000"/>
              </a:lnSpc>
              <a:spcBef>
                <a:spcPts val="20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L="3657600" marR="0" lvl="7" indent="-228600" algn="l" rtl="0">
              <a:lnSpc>
                <a:spcPct val="100000"/>
              </a:lnSpc>
              <a:spcBef>
                <a:spcPts val="20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L="4114800" marR="0" lvl="8" indent="-228600" algn="l" rtl="0">
              <a:lnSpc>
                <a:spcPct val="100000"/>
              </a:lnSpc>
              <a:spcBef>
                <a:spcPts val="20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pPr marL="0" indent="0" algn="ctr"/>
            <a:r>
              <a:rPr lang="en-US" sz="2400" b="1" dirty="0"/>
              <a:t>Schematic Summary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08">
          <a:extLst>
            <a:ext uri="{FF2B5EF4-FFF2-40B4-BE49-F238E27FC236}">
              <a16:creationId xmlns:a16="http://schemas.microsoft.com/office/drawing/2014/main" id="{BF3D92A5-A111-A6C4-2DC9-4A7AE5B3C6B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441A5CFD-4820-0214-8BD6-AAB9DBE9BE3D}"/>
              </a:ext>
            </a:extLst>
          </p:cNvPr>
          <p:cNvSpPr txBox="1"/>
          <p:nvPr/>
        </p:nvSpPr>
        <p:spPr>
          <a:xfrm>
            <a:off x="132407" y="912925"/>
            <a:ext cx="4879817" cy="2769989"/>
          </a:xfrm>
          <a:prstGeom prst="rect">
            <a:avLst/>
          </a:prstGeom>
          <a:noFill/>
        </p:spPr>
        <p:txBody>
          <a:bodyPr wrap="square">
            <a:spAutoFit/>
          </a:bodyPr>
          <a:lstStyle/>
          <a:p>
            <a:r>
              <a:rPr lang="zh-CN" altLang="en-US" sz="1600" b="1" dirty="0">
                <a:solidFill>
                  <a:schemeClr val="accent1">
                    <a:lumMod val="75000"/>
                  </a:schemeClr>
                </a:solidFill>
              </a:rPr>
              <a:t>lstm_top</a:t>
            </a:r>
          </a:p>
          <a:p>
            <a:r>
              <a:rPr lang="zh-CN" altLang="en-US" dirty="0"/>
              <a:t>• Top-leve connecting host, core and SRAM</a:t>
            </a:r>
          </a:p>
          <a:p>
            <a:r>
              <a:rPr lang="zh-CN" altLang="en-US" dirty="0"/>
              <a:t>• Contains SRAM </a:t>
            </a:r>
            <a:r>
              <a:rPr lang="en-US" altLang="zh-CN" dirty="0"/>
              <a:t>choose</a:t>
            </a:r>
            <a:r>
              <a:rPr lang="zh-CN" altLang="en-US" dirty="0"/>
              <a:t> mux controlled by busy</a:t>
            </a:r>
            <a:endParaRPr lang="en-US" altLang="zh-CN" dirty="0"/>
          </a:p>
          <a:p>
            <a:endParaRPr lang="zh-CN" altLang="en-US" dirty="0"/>
          </a:p>
          <a:p>
            <a:r>
              <a:rPr lang="zh-CN" altLang="en-US" sz="1600" b="1" dirty="0">
                <a:solidFill>
                  <a:schemeClr val="accent1">
                    <a:lumMod val="75000"/>
                  </a:schemeClr>
                </a:solidFill>
              </a:rPr>
              <a:t>busy / SRAM Ownership</a:t>
            </a:r>
          </a:p>
          <a:p>
            <a:r>
              <a:rPr lang="zh-CN" altLang="en-US" dirty="0"/>
              <a:t>• busy=0: host owns SRAM</a:t>
            </a:r>
          </a:p>
          <a:p>
            <a:r>
              <a:rPr lang="zh-CN" altLang="en-US" dirty="0"/>
              <a:t>• busy=1: lstm_core owns SRAM</a:t>
            </a:r>
          </a:p>
          <a:p>
            <a:endParaRPr lang="zh-CN" altLang="en-US" dirty="0"/>
          </a:p>
          <a:p>
            <a:r>
              <a:rPr lang="zh-CN" altLang="en-US" sz="1600" b="1" dirty="0">
                <a:solidFill>
                  <a:schemeClr val="accent1">
                    <a:lumMod val="75000"/>
                  </a:schemeClr>
                </a:solidFill>
              </a:rPr>
              <a:t>lstm_core</a:t>
            </a:r>
          </a:p>
          <a:p>
            <a:r>
              <a:rPr lang="zh-CN" altLang="en-US" dirty="0"/>
              <a:t>• Main FSM for sequential LSTM computation</a:t>
            </a:r>
          </a:p>
          <a:p>
            <a:r>
              <a:rPr lang="zh-CN" altLang="en-US" dirty="0"/>
              <a:t>• Reads weights/inputs/states from SRAM</a:t>
            </a:r>
          </a:p>
          <a:p>
            <a:r>
              <a:rPr lang="zh-CN" altLang="en-US" dirty="0"/>
              <a:t>• Computes f/i/g/o gates and update states</a:t>
            </a:r>
          </a:p>
        </p:txBody>
      </p:sp>
      <p:sp>
        <p:nvSpPr>
          <p:cNvPr id="9" name="TextBox 8">
            <a:extLst>
              <a:ext uri="{FF2B5EF4-FFF2-40B4-BE49-F238E27FC236}">
                <a16:creationId xmlns:a16="http://schemas.microsoft.com/office/drawing/2014/main" id="{8316FEAE-A6C9-6564-F13D-82C31399B667}"/>
              </a:ext>
            </a:extLst>
          </p:cNvPr>
          <p:cNvSpPr txBox="1"/>
          <p:nvPr/>
        </p:nvSpPr>
        <p:spPr>
          <a:xfrm>
            <a:off x="4377352" y="1128369"/>
            <a:ext cx="4879817" cy="2554545"/>
          </a:xfrm>
          <a:prstGeom prst="rect">
            <a:avLst/>
          </a:prstGeom>
          <a:noFill/>
        </p:spPr>
        <p:txBody>
          <a:bodyPr wrap="square">
            <a:spAutoFit/>
          </a:bodyPr>
          <a:lstStyle/>
          <a:p>
            <a:r>
              <a:rPr lang="zh-CN" altLang="en-US" sz="1600" b="1" dirty="0">
                <a:solidFill>
                  <a:schemeClr val="accent1">
                    <a:lumMod val="75000"/>
                  </a:schemeClr>
                </a:solidFill>
              </a:rPr>
              <a:t>sram_wrap + GF180 SRAM</a:t>
            </a:r>
          </a:p>
          <a:p>
            <a:r>
              <a:rPr lang="zh-CN" altLang="en-US" dirty="0"/>
              <a:t>• sram_wrap adapts signals to GF180 SRAM macro</a:t>
            </a:r>
          </a:p>
          <a:p>
            <a:r>
              <a:rPr lang="zh-CN" altLang="en-US" dirty="0"/>
              <a:t>• SRAM stores weights</a:t>
            </a:r>
            <a:r>
              <a:rPr lang="en-US" altLang="zh-CN" dirty="0"/>
              <a:t>/</a:t>
            </a:r>
            <a:r>
              <a:rPr lang="zh-CN" altLang="en-US" dirty="0"/>
              <a:t> biases</a:t>
            </a:r>
            <a:r>
              <a:rPr lang="en-US" altLang="zh-CN" dirty="0"/>
              <a:t>/</a:t>
            </a:r>
            <a:r>
              <a:rPr lang="zh-CN" altLang="en-US" dirty="0"/>
              <a:t> inputs</a:t>
            </a:r>
            <a:r>
              <a:rPr lang="en-US" altLang="zh-CN" dirty="0"/>
              <a:t>/</a:t>
            </a:r>
            <a:r>
              <a:rPr lang="zh-CN" altLang="en-US" dirty="0"/>
              <a:t> states and outputs</a:t>
            </a:r>
          </a:p>
          <a:p>
            <a:endParaRPr lang="zh-CN" altLang="en-US" dirty="0"/>
          </a:p>
          <a:p>
            <a:r>
              <a:rPr lang="zh-CN" altLang="en-US" sz="1600" b="1" dirty="0">
                <a:solidFill>
                  <a:schemeClr val="accent1">
                    <a:lumMod val="75000"/>
                  </a:schemeClr>
                </a:solidFill>
              </a:rPr>
              <a:t>mul8 Reuse</a:t>
            </a:r>
          </a:p>
          <a:p>
            <a:r>
              <a:rPr lang="zh-CN" altLang="en-US" dirty="0"/>
              <a:t>• One signed 8×8 multiplier reused across all gates</a:t>
            </a:r>
          </a:p>
          <a:p>
            <a:r>
              <a:rPr lang="zh-CN" altLang="en-US" dirty="0"/>
              <a:t>• Area-saving design, but computation is sequential</a:t>
            </a:r>
          </a:p>
          <a:p>
            <a:endParaRPr lang="zh-CN" altLang="en-US" dirty="0"/>
          </a:p>
          <a:p>
            <a:r>
              <a:rPr lang="zh-CN" altLang="en-US" sz="1600" b="1" dirty="0">
                <a:solidFill>
                  <a:schemeClr val="accent1">
                    <a:lumMod val="75000"/>
                  </a:schemeClr>
                </a:solidFill>
              </a:rPr>
              <a:t>Activation</a:t>
            </a:r>
          </a:p>
          <a:p>
            <a:r>
              <a:rPr lang="zh-CN" altLang="en-US" dirty="0"/>
              <a:t>• act_lut: gate activation for f/i/o and g</a:t>
            </a:r>
          </a:p>
          <a:p>
            <a:r>
              <a:rPr lang="zh-CN" altLang="en-US" dirty="0"/>
              <a:t>• tanh8: computes tanh(c_next) for h_next update</a:t>
            </a:r>
          </a:p>
        </p:txBody>
      </p:sp>
      <p:sp>
        <p:nvSpPr>
          <p:cNvPr id="11" name="TextBox 10">
            <a:extLst>
              <a:ext uri="{FF2B5EF4-FFF2-40B4-BE49-F238E27FC236}">
                <a16:creationId xmlns:a16="http://schemas.microsoft.com/office/drawing/2014/main" id="{BBB7485F-AB04-D8E1-2902-EB247D2B3BA9}"/>
              </a:ext>
            </a:extLst>
          </p:cNvPr>
          <p:cNvSpPr txBox="1"/>
          <p:nvPr/>
        </p:nvSpPr>
        <p:spPr>
          <a:xfrm>
            <a:off x="132407" y="3801989"/>
            <a:ext cx="8879186" cy="553998"/>
          </a:xfrm>
          <a:prstGeom prst="rect">
            <a:avLst/>
          </a:prstGeom>
          <a:noFill/>
        </p:spPr>
        <p:txBody>
          <a:bodyPr wrap="square">
            <a:spAutoFit/>
          </a:bodyPr>
          <a:lstStyle/>
          <a:p>
            <a:r>
              <a:rPr lang="zh-CN" altLang="en-US" sz="1600" b="1" dirty="0">
                <a:solidFill>
                  <a:schemeClr val="accent1">
                    <a:lumMod val="75000"/>
                  </a:schemeClr>
                </a:solidFill>
              </a:rPr>
              <a:t>Host/Testbench</a:t>
            </a:r>
          </a:p>
          <a:p>
            <a:r>
              <a:rPr lang="zh-CN" altLang="en-US" dirty="0"/>
              <a:t>• External to RTL; used to initialize SRAM and read results</a:t>
            </a:r>
            <a:r>
              <a:rPr lang="en-US" altLang="zh-CN" dirty="0"/>
              <a:t>. </a:t>
            </a:r>
            <a:r>
              <a:rPr lang="zh-CN" altLang="en-US" dirty="0"/>
              <a:t>Drives host_* signals, asserts start, waits for done</a:t>
            </a:r>
          </a:p>
        </p:txBody>
      </p:sp>
      <p:sp>
        <p:nvSpPr>
          <p:cNvPr id="12" name="Google Shape;390;p81">
            <a:extLst>
              <a:ext uri="{FF2B5EF4-FFF2-40B4-BE49-F238E27FC236}">
                <a16:creationId xmlns:a16="http://schemas.microsoft.com/office/drawing/2014/main" id="{F24775FC-1481-934F-F4BB-5E09E3E29025}"/>
              </a:ext>
            </a:extLst>
          </p:cNvPr>
          <p:cNvSpPr txBox="1">
            <a:spLocks/>
          </p:cNvSpPr>
          <p:nvPr/>
        </p:nvSpPr>
        <p:spPr>
          <a:xfrm>
            <a:off x="0" y="32791"/>
            <a:ext cx="3467100" cy="583500"/>
          </a:xfrm>
          <a:prstGeom prst="rect">
            <a:avLst/>
          </a:prstGeom>
          <a:noFill/>
          <a:ln>
            <a:noFill/>
          </a:ln>
        </p:spPr>
        <p:txBody>
          <a:bodyPr spcFirstLastPara="1" wrap="square" lIns="68575" tIns="34275" rIns="68575" bIns="34275" anchor="b" anchorCtr="0">
            <a:noAutofit/>
          </a:bodyPr>
          <a:lstStyle>
            <a:defPPr marR="0" lvl="0" algn="l" rtl="0">
              <a:lnSpc>
                <a:spcPct val="100000"/>
              </a:lnSpc>
              <a:spcBef>
                <a:spcPts val="0"/>
              </a:spcBef>
              <a:spcAft>
                <a:spcPts val="0"/>
              </a:spcAft>
            </a:defPPr>
            <a:lvl1pPr marL="457200" marR="0" lvl="0" indent="-228600" algn="l" rtl="0">
              <a:lnSpc>
                <a:spcPct val="100000"/>
              </a:lnSpc>
              <a:spcBef>
                <a:spcPts val="300"/>
              </a:spcBef>
              <a:spcAft>
                <a:spcPts val="0"/>
              </a:spcAft>
              <a:buClr>
                <a:srgbClr val="000000"/>
              </a:buClr>
              <a:buSzPts val="1200"/>
              <a:buFont typeface="Verdana"/>
              <a:buNone/>
              <a:defRPr sz="1500" b="0" i="0" u="none" strike="noStrike" cap="none">
                <a:solidFill>
                  <a:srgbClr val="000000"/>
                </a:solidFill>
                <a:latin typeface="Arial"/>
                <a:ea typeface="Arial"/>
                <a:cs typeface="Arial"/>
                <a:sym typeface="Arial"/>
              </a:defRPr>
            </a:lvl1pPr>
            <a:lvl2pPr marL="914400" marR="0" lvl="1" indent="-228600" algn="l" rtl="0">
              <a:lnSpc>
                <a:spcPct val="100000"/>
              </a:lnSpc>
              <a:spcBef>
                <a:spcPts val="300"/>
              </a:spcBef>
              <a:spcAft>
                <a:spcPts val="0"/>
              </a:spcAft>
              <a:buClr>
                <a:srgbClr val="000000"/>
              </a:buClr>
              <a:buSzPts val="1400"/>
              <a:buFont typeface="Verdana"/>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20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3pPr>
            <a:lvl4pPr marL="1828800" marR="0" lvl="3" indent="-228600" algn="l" rtl="0">
              <a:lnSpc>
                <a:spcPct val="100000"/>
              </a:lnSpc>
              <a:spcBef>
                <a:spcPts val="200"/>
              </a:spcBef>
              <a:spcAft>
                <a:spcPts val="0"/>
              </a:spcAft>
              <a:buClr>
                <a:srgbClr val="000000"/>
              </a:buClr>
              <a:buSzPts val="1100"/>
              <a:buFont typeface="Verdana"/>
              <a:buNone/>
              <a:defRPr sz="1100" b="0" i="0" u="none" strike="noStrike" cap="none">
                <a:solidFill>
                  <a:srgbClr val="000000"/>
                </a:solidFill>
                <a:latin typeface="Arial"/>
                <a:ea typeface="Arial"/>
                <a:cs typeface="Arial"/>
                <a:sym typeface="Arial"/>
              </a:defRPr>
            </a:lvl4pPr>
            <a:lvl5pPr marL="2286000" marR="0" lvl="4" indent="-228600" algn="l" rtl="0">
              <a:lnSpc>
                <a:spcPct val="100000"/>
              </a:lnSpc>
              <a:spcBef>
                <a:spcPts val="20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L="2743200" marR="0" lvl="5" indent="-228600" algn="l" rtl="0">
              <a:lnSpc>
                <a:spcPct val="100000"/>
              </a:lnSpc>
              <a:spcBef>
                <a:spcPts val="20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L="3200400" marR="0" lvl="6" indent="-228600" algn="l" rtl="0">
              <a:lnSpc>
                <a:spcPct val="100000"/>
              </a:lnSpc>
              <a:spcBef>
                <a:spcPts val="20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L="3657600" marR="0" lvl="7" indent="-228600" algn="l" rtl="0">
              <a:lnSpc>
                <a:spcPct val="100000"/>
              </a:lnSpc>
              <a:spcBef>
                <a:spcPts val="20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L="4114800" marR="0" lvl="8" indent="-228600" algn="l" rtl="0">
              <a:lnSpc>
                <a:spcPct val="100000"/>
              </a:lnSpc>
              <a:spcBef>
                <a:spcPts val="20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pPr marL="0" indent="0" algn="ctr"/>
            <a:r>
              <a:rPr lang="en-US" sz="2400" b="1" dirty="0"/>
              <a:t>Schematic Summary</a:t>
            </a:r>
          </a:p>
        </p:txBody>
      </p:sp>
    </p:spTree>
    <p:extLst>
      <p:ext uri="{BB962C8B-B14F-4D97-AF65-F5344CB8AC3E}">
        <p14:creationId xmlns:p14="http://schemas.microsoft.com/office/powerpoint/2010/main" val="2997283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84"/>
          <p:cNvSpPr txBox="1">
            <a:spLocks noGrp="1"/>
          </p:cNvSpPr>
          <p:nvPr>
            <p:ph type="title"/>
          </p:nvPr>
        </p:nvSpPr>
        <p:spPr>
          <a:xfrm>
            <a:off x="806650" y="2815288"/>
            <a:ext cx="7772400" cy="476700"/>
          </a:xfrm>
          <a:prstGeom prst="rect">
            <a:avLst/>
          </a:prstGeom>
        </p:spPr>
        <p:txBody>
          <a:bodyPr spcFirstLastPara="1" wrap="square" lIns="68575" tIns="34275" rIns="68575" bIns="34275" anchor="t" anchorCtr="0">
            <a:noAutofit/>
          </a:bodyPr>
          <a:lstStyle/>
          <a:p>
            <a:pPr lvl="0"/>
            <a:r>
              <a:rPr lang="zh-CN" altLang="zh-CN" sz="1800" dirty="0"/>
              <a:t>Verification Status</a:t>
            </a:r>
            <a:endParaRPr sz="1800" dirty="0"/>
          </a:p>
        </p:txBody>
      </p:sp>
      <p:graphicFrame>
        <p:nvGraphicFramePr>
          <p:cNvPr id="417" name="Google Shape;417;p84"/>
          <p:cNvGraphicFramePr/>
          <p:nvPr>
            <p:extLst>
              <p:ext uri="{D42A27DB-BD31-4B8C-83A1-F6EECF244321}">
                <p14:modId xmlns:p14="http://schemas.microsoft.com/office/powerpoint/2010/main" val="731342884"/>
              </p:ext>
            </p:extLst>
          </p:nvPr>
        </p:nvGraphicFramePr>
        <p:xfrm>
          <a:off x="806650" y="983500"/>
          <a:ext cx="7223774" cy="1761213"/>
        </p:xfrm>
        <a:graphic>
          <a:graphicData uri="http://schemas.openxmlformats.org/drawingml/2006/table">
            <a:tbl>
              <a:tblPr>
                <a:noFill/>
              </a:tblPr>
              <a:tblGrid>
                <a:gridCol w="3611887">
                  <a:extLst>
                    <a:ext uri="{9D8B030D-6E8A-4147-A177-3AD203B41FA5}">
                      <a16:colId xmlns:a16="http://schemas.microsoft.com/office/drawing/2014/main" val="20000"/>
                    </a:ext>
                  </a:extLst>
                </a:gridCol>
                <a:gridCol w="3611887">
                  <a:extLst>
                    <a:ext uri="{9D8B030D-6E8A-4147-A177-3AD203B41FA5}">
                      <a16:colId xmlns:a16="http://schemas.microsoft.com/office/drawing/2014/main" val="20001"/>
                    </a:ext>
                  </a:extLst>
                </a:gridCol>
              </a:tblGrid>
              <a:tr h="307819">
                <a:tc>
                  <a:txBody>
                    <a:bodyPr/>
                    <a:lstStyle/>
                    <a:p>
                      <a:pPr marL="0" lvl="0" indent="0" algn="ctr" rtl="0">
                        <a:lnSpc>
                          <a:spcPct val="115000"/>
                        </a:lnSpc>
                        <a:spcBef>
                          <a:spcPts val="0"/>
                        </a:spcBef>
                        <a:spcAft>
                          <a:spcPts val="0"/>
                        </a:spcAft>
                        <a:buNone/>
                      </a:pPr>
                      <a:r>
                        <a:rPr lang="en" sz="1100" b="1"/>
                        <a:t>Task</a:t>
                      </a:r>
                      <a:endParaRPr sz="1100" b="1"/>
                    </a:p>
                  </a:txBody>
                  <a:tcPr marL="91425" marR="91425" marT="91425" marB="91425"/>
                </a:tc>
                <a:tc>
                  <a:txBody>
                    <a:bodyPr/>
                    <a:lstStyle/>
                    <a:p>
                      <a:pPr marL="0" lvl="0" indent="0" algn="ctr" rtl="0">
                        <a:lnSpc>
                          <a:spcPct val="115000"/>
                        </a:lnSpc>
                        <a:spcBef>
                          <a:spcPts val="0"/>
                        </a:spcBef>
                        <a:spcAft>
                          <a:spcPts val="0"/>
                        </a:spcAft>
                        <a:buNone/>
                      </a:pPr>
                      <a:r>
                        <a:rPr lang="en" sz="1100" b="1"/>
                        <a:t>Status</a:t>
                      </a:r>
                      <a:endParaRPr sz="1100" b="1"/>
                    </a:p>
                  </a:txBody>
                  <a:tcPr marL="91425" marR="91425" marT="91425" marB="91425"/>
                </a:tc>
                <a:extLst>
                  <a:ext uri="{0D108BD9-81ED-4DB2-BD59-A6C34878D82A}">
                    <a16:rowId xmlns:a16="http://schemas.microsoft.com/office/drawing/2014/main" val="10000"/>
                  </a:ext>
                </a:extLst>
              </a:tr>
              <a:tr h="320108">
                <a:tc>
                  <a:txBody>
                    <a:bodyPr/>
                    <a:lstStyle/>
                    <a:p>
                      <a:pPr marL="0" lvl="0" indent="0" algn="ctr" rtl="0">
                        <a:spcBef>
                          <a:spcPts val="0"/>
                        </a:spcBef>
                        <a:spcAft>
                          <a:spcPts val="0"/>
                        </a:spcAft>
                        <a:buNone/>
                      </a:pPr>
                      <a:r>
                        <a:rPr lang="en" sz="1100" dirty="0"/>
                        <a:t>✅ System Architecture</a:t>
                      </a:r>
                      <a:endParaRPr sz="1100" dirty="0"/>
                    </a:p>
                  </a:txBody>
                  <a:tcPr marL="91425" marR="91425" marT="91425" marB="91425"/>
                </a:tc>
                <a:tc>
                  <a:txBody>
                    <a:bodyPr/>
                    <a:lstStyle/>
                    <a:p>
                      <a:pPr marL="0" lvl="0" indent="0" algn="ctr" rtl="0">
                        <a:spcBef>
                          <a:spcPts val="0"/>
                        </a:spcBef>
                        <a:spcAft>
                          <a:spcPts val="0"/>
                        </a:spcAft>
                        <a:buNone/>
                      </a:pPr>
                      <a:r>
                        <a:rPr lang="en" sz="1100" dirty="0"/>
                        <a:t>Completed</a:t>
                      </a:r>
                      <a:endParaRPr sz="1100" dirty="0"/>
                    </a:p>
                  </a:txBody>
                  <a:tcPr marL="91425" marR="91425" marT="91425" marB="91425"/>
                </a:tc>
                <a:extLst>
                  <a:ext uri="{0D108BD9-81ED-4DB2-BD59-A6C34878D82A}">
                    <a16:rowId xmlns:a16="http://schemas.microsoft.com/office/drawing/2014/main" val="10001"/>
                  </a:ext>
                </a:extLst>
              </a:tr>
              <a:tr h="320108">
                <a:tc>
                  <a:txBody>
                    <a:bodyPr/>
                    <a:lstStyle/>
                    <a:p>
                      <a:pPr marL="0" lvl="0" indent="0" algn="ctr" rtl="0">
                        <a:spcBef>
                          <a:spcPts val="0"/>
                        </a:spcBef>
                        <a:spcAft>
                          <a:spcPts val="0"/>
                        </a:spcAft>
                        <a:buNone/>
                      </a:pPr>
                      <a:r>
                        <a:rPr lang="en" sz="1100" dirty="0"/>
                        <a:t>✅ Design Specifications</a:t>
                      </a:r>
                      <a:endParaRPr sz="1100" dirty="0"/>
                    </a:p>
                  </a:txBody>
                  <a:tcPr marL="91425" marR="91425" marT="91425" marB="91425"/>
                </a:tc>
                <a:tc>
                  <a:txBody>
                    <a:bodyPr/>
                    <a:lstStyle/>
                    <a:p>
                      <a:pPr marL="0" lvl="0" indent="0" algn="ctr" rtl="0">
                        <a:spcBef>
                          <a:spcPts val="0"/>
                        </a:spcBef>
                        <a:spcAft>
                          <a:spcPts val="0"/>
                        </a:spcAft>
                        <a:buNone/>
                      </a:pPr>
                      <a:r>
                        <a:rPr lang="en" sz="1100"/>
                        <a:t>Completed</a:t>
                      </a:r>
                      <a:endParaRPr sz="1100"/>
                    </a:p>
                  </a:txBody>
                  <a:tcPr marL="91425" marR="91425" marT="91425" marB="91425"/>
                </a:tc>
                <a:extLst>
                  <a:ext uri="{0D108BD9-81ED-4DB2-BD59-A6C34878D82A}">
                    <a16:rowId xmlns:a16="http://schemas.microsoft.com/office/drawing/2014/main" val="10002"/>
                  </a:ext>
                </a:extLst>
              </a:tr>
              <a:tr h="0">
                <a:tc>
                  <a:txBody>
                    <a:bodyPr/>
                    <a:lstStyle/>
                    <a:p>
                      <a:pPr marL="0" lvl="0" indent="0" algn="ctr" rtl="0">
                        <a:spcBef>
                          <a:spcPts val="0"/>
                        </a:spcBef>
                        <a:spcAft>
                          <a:spcPts val="0"/>
                        </a:spcAft>
                        <a:buNone/>
                      </a:pPr>
                      <a:r>
                        <a:rPr lang="en" sz="1100" dirty="0"/>
                        <a:t>🚧 RTL Design</a:t>
                      </a:r>
                      <a:endParaRPr sz="1100" dirty="0"/>
                    </a:p>
                  </a:txBody>
                  <a:tcPr marL="91425" marR="91425" marT="91425" marB="91425"/>
                </a:tc>
                <a:tc>
                  <a:txBody>
                    <a:bodyPr/>
                    <a:lstStyle/>
                    <a:p>
                      <a:pPr marL="0" lvl="0" indent="0" algn="ctr" rtl="0">
                        <a:spcBef>
                          <a:spcPts val="0"/>
                        </a:spcBef>
                        <a:spcAft>
                          <a:spcPts val="0"/>
                        </a:spcAft>
                        <a:buNone/>
                      </a:pPr>
                      <a:r>
                        <a:rPr lang="en" sz="1100" dirty="0"/>
                        <a:t>In Progress</a:t>
                      </a:r>
                      <a:endParaRPr sz="1100" dirty="0"/>
                    </a:p>
                  </a:txBody>
                  <a:tcPr marL="91425" marR="91425" marT="91425" marB="91425"/>
                </a:tc>
                <a:extLst>
                  <a:ext uri="{0D108BD9-81ED-4DB2-BD59-A6C34878D82A}">
                    <a16:rowId xmlns:a16="http://schemas.microsoft.com/office/drawing/2014/main" val="10004"/>
                  </a:ext>
                </a:extLst>
              </a:tr>
              <a:tr h="320108">
                <a:tc>
                  <a:txBody>
                    <a:bodyPr/>
                    <a:lstStyle/>
                    <a:p>
                      <a:pPr marL="0" lvl="0" indent="0" algn="ctr" rtl="0">
                        <a:spcBef>
                          <a:spcPts val="0"/>
                        </a:spcBef>
                        <a:spcAft>
                          <a:spcPts val="0"/>
                        </a:spcAft>
                        <a:buNone/>
                      </a:pPr>
                      <a:r>
                        <a:rPr lang="en" sz="1100" dirty="0"/>
                        <a:t>🚧 RTL Verification</a:t>
                      </a:r>
                      <a:endParaRPr sz="1100" dirty="0"/>
                    </a:p>
                  </a:txBody>
                  <a:tcPr marL="91425" marR="91425" marT="91425" marB="91425"/>
                </a:tc>
                <a:tc>
                  <a:txBody>
                    <a:bodyPr/>
                    <a:lstStyle/>
                    <a:p>
                      <a:pPr marL="0" lvl="0" indent="0" algn="ctr" rtl="0">
                        <a:spcBef>
                          <a:spcPts val="0"/>
                        </a:spcBef>
                        <a:spcAft>
                          <a:spcPts val="0"/>
                        </a:spcAft>
                        <a:buNone/>
                      </a:pPr>
                      <a:r>
                        <a:rPr lang="en" sz="1100" dirty="0"/>
                        <a:t>In Progress</a:t>
                      </a:r>
                      <a:endParaRPr sz="1100" dirty="0"/>
                    </a:p>
                  </a:txBody>
                  <a:tcPr marL="91425" marR="91425" marT="91425" marB="91425"/>
                </a:tc>
                <a:extLst>
                  <a:ext uri="{0D108BD9-81ED-4DB2-BD59-A6C34878D82A}">
                    <a16:rowId xmlns:a16="http://schemas.microsoft.com/office/drawing/2014/main" val="10005"/>
                  </a:ext>
                </a:extLst>
              </a:tr>
            </a:tbl>
          </a:graphicData>
        </a:graphic>
      </p:graphicFrame>
      <p:sp>
        <p:nvSpPr>
          <p:cNvPr id="418" name="Google Shape;418;p84"/>
          <p:cNvSpPr txBox="1"/>
          <p:nvPr/>
        </p:nvSpPr>
        <p:spPr>
          <a:xfrm>
            <a:off x="352425" y="3122462"/>
            <a:ext cx="8725963" cy="1761213"/>
          </a:xfrm>
          <a:prstGeom prst="rect">
            <a:avLst/>
          </a:prstGeom>
          <a:noFill/>
          <a:ln>
            <a:noFill/>
          </a:ln>
        </p:spPr>
        <p:txBody>
          <a:bodyPr spcFirstLastPara="1" wrap="square" lIns="91425" tIns="91425" rIns="91425" bIns="91425" anchor="t" anchorCtr="0">
            <a:noAutofit/>
          </a:bodyPr>
          <a:lstStyle/>
          <a:p>
            <a:pPr marL="457200" lvl="0" indent="-317500">
              <a:buSzPts val="1400"/>
              <a:buChar char="●"/>
            </a:pPr>
            <a:r>
              <a:rPr lang="zh-CN" altLang="zh-CN" dirty="0"/>
              <a:t>Current verification focuses on RTL simulation with deterministic test vectors. </a:t>
            </a:r>
            <a:endParaRPr lang="en-US" altLang="zh-CN" dirty="0"/>
          </a:p>
          <a:p>
            <a:pPr marL="139700" lvl="0">
              <a:buSzPts val="1400"/>
            </a:pPr>
            <a:r>
              <a:rPr lang="en-US" altLang="zh-CN" i="1" dirty="0">
                <a:solidFill>
                  <a:schemeClr val="accent1">
                    <a:lumMod val="75000"/>
                  </a:schemeClr>
                </a:solidFill>
              </a:rPr>
              <a:t>• trace_acc_q214.hex: MAC accumulator reference	• trace_gate_q17.hex: f/</a:t>
            </a:r>
            <a:r>
              <a:rPr lang="en-US" altLang="zh-CN" i="1" dirty="0" err="1">
                <a:solidFill>
                  <a:schemeClr val="accent1">
                    <a:lumMod val="75000"/>
                  </a:schemeClr>
                </a:solidFill>
              </a:rPr>
              <a:t>i</a:t>
            </a:r>
            <a:r>
              <a:rPr lang="en-US" altLang="zh-CN" i="1" dirty="0">
                <a:solidFill>
                  <a:schemeClr val="accent1">
                    <a:lumMod val="75000"/>
                  </a:schemeClr>
                </a:solidFill>
              </a:rPr>
              <a:t>/g/o gate reference</a:t>
            </a:r>
          </a:p>
          <a:p>
            <a:pPr marL="139700" lvl="0">
              <a:buSzPts val="1400"/>
            </a:pPr>
            <a:r>
              <a:rPr lang="en-US" altLang="zh-CN" i="1" dirty="0">
                <a:solidFill>
                  <a:schemeClr val="accent1">
                    <a:lumMod val="75000"/>
                  </a:schemeClr>
                </a:solidFill>
              </a:rPr>
              <a:t>• trace_c_next_q17.hex: cell-state reference		• trace_h_next_q17.hex: hidden-state reference</a:t>
            </a:r>
          </a:p>
          <a:p>
            <a:pPr marL="139700" lvl="0">
              <a:buSzPts val="1400"/>
            </a:pPr>
            <a:endParaRPr lang="en-US" altLang="zh-CN" dirty="0"/>
          </a:p>
          <a:p>
            <a:pPr marL="457200" lvl="0" indent="-317500">
              <a:buSzPts val="1400"/>
              <a:buChar char="●"/>
            </a:pPr>
            <a:r>
              <a:rPr lang="zh-CN" altLang="zh-CN" dirty="0"/>
              <a:t>Python-generated golden outputs will be used to check gate values and final state outputs.</a:t>
            </a:r>
            <a:endParaRPr lang="en-US" altLang="zh-CN" dirty="0"/>
          </a:p>
          <a:p>
            <a:pPr marL="457200" lvl="0" indent="-317500">
              <a:buSzPts val="1400"/>
              <a:buChar char="●"/>
            </a:pPr>
            <a:r>
              <a:rPr lang="en-US" dirty="0"/>
              <a:t>TB acts as the external host </a:t>
            </a:r>
            <a:r>
              <a:rPr lang="en-US" dirty="0" err="1"/>
              <a:t>testcase_init.hex</a:t>
            </a:r>
            <a:r>
              <a:rPr lang="en-US" dirty="0"/>
              <a:t> initializes the 128-byte SRAM image.</a:t>
            </a:r>
          </a:p>
          <a:p>
            <a:pPr marL="457200" lvl="0" indent="-317500">
              <a:buSzPts val="1400"/>
              <a:buChar char="●"/>
            </a:pPr>
            <a:r>
              <a:rPr lang="en-US" dirty="0"/>
              <a:t>start triggers the LSTM core after SRAM loading</a:t>
            </a:r>
          </a:p>
          <a:p>
            <a:pPr marL="457200" lvl="0" indent="-317500">
              <a:buSzPts val="1400"/>
              <a:buChar char="●"/>
            </a:pPr>
            <a:endParaRPr dirty="0"/>
          </a:p>
        </p:txBody>
      </p:sp>
      <p:sp>
        <p:nvSpPr>
          <p:cNvPr id="3" name="Google Shape;390;p81">
            <a:extLst>
              <a:ext uri="{FF2B5EF4-FFF2-40B4-BE49-F238E27FC236}">
                <a16:creationId xmlns:a16="http://schemas.microsoft.com/office/drawing/2014/main" id="{1EC188C5-95F3-B5D2-653A-3198419F2FF2}"/>
              </a:ext>
            </a:extLst>
          </p:cNvPr>
          <p:cNvSpPr txBox="1">
            <a:spLocks/>
          </p:cNvSpPr>
          <p:nvPr/>
        </p:nvSpPr>
        <p:spPr>
          <a:xfrm>
            <a:off x="352425" y="329425"/>
            <a:ext cx="3467100" cy="583500"/>
          </a:xfrm>
          <a:prstGeom prst="rect">
            <a:avLst/>
          </a:prstGeom>
          <a:noFill/>
          <a:ln>
            <a:noFill/>
          </a:ln>
        </p:spPr>
        <p:txBody>
          <a:bodyPr spcFirstLastPara="1" wrap="square" lIns="68575" tIns="34275" rIns="68575" bIns="34275" anchor="b" anchorCtr="0">
            <a:noAutofit/>
          </a:bodyPr>
          <a:lstStyle>
            <a:defPPr marR="0" lvl="0" algn="l" rtl="0">
              <a:lnSpc>
                <a:spcPct val="100000"/>
              </a:lnSpc>
              <a:spcBef>
                <a:spcPts val="0"/>
              </a:spcBef>
              <a:spcAft>
                <a:spcPts val="0"/>
              </a:spcAft>
            </a:defPPr>
            <a:lvl1pPr marL="457200" marR="0" lvl="0" indent="-228600" algn="l" rtl="0">
              <a:lnSpc>
                <a:spcPct val="100000"/>
              </a:lnSpc>
              <a:spcBef>
                <a:spcPts val="300"/>
              </a:spcBef>
              <a:spcAft>
                <a:spcPts val="0"/>
              </a:spcAft>
              <a:buClr>
                <a:srgbClr val="000000"/>
              </a:buClr>
              <a:buSzPts val="1200"/>
              <a:buFont typeface="Verdana"/>
              <a:buNone/>
              <a:defRPr sz="1500" b="0" i="0" u="none" strike="noStrike" cap="none">
                <a:solidFill>
                  <a:srgbClr val="000000"/>
                </a:solidFill>
                <a:latin typeface="Arial"/>
                <a:ea typeface="Arial"/>
                <a:cs typeface="Arial"/>
                <a:sym typeface="Arial"/>
              </a:defRPr>
            </a:lvl1pPr>
            <a:lvl2pPr marL="914400" marR="0" lvl="1" indent="-228600" algn="l" rtl="0">
              <a:lnSpc>
                <a:spcPct val="100000"/>
              </a:lnSpc>
              <a:spcBef>
                <a:spcPts val="300"/>
              </a:spcBef>
              <a:spcAft>
                <a:spcPts val="0"/>
              </a:spcAft>
              <a:buClr>
                <a:srgbClr val="000000"/>
              </a:buClr>
              <a:buSzPts val="1400"/>
              <a:buFont typeface="Verdana"/>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20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3pPr>
            <a:lvl4pPr marL="1828800" marR="0" lvl="3" indent="-228600" algn="l" rtl="0">
              <a:lnSpc>
                <a:spcPct val="100000"/>
              </a:lnSpc>
              <a:spcBef>
                <a:spcPts val="200"/>
              </a:spcBef>
              <a:spcAft>
                <a:spcPts val="0"/>
              </a:spcAft>
              <a:buClr>
                <a:srgbClr val="000000"/>
              </a:buClr>
              <a:buSzPts val="1100"/>
              <a:buFont typeface="Verdana"/>
              <a:buNone/>
              <a:defRPr sz="1100" b="0" i="0" u="none" strike="noStrike" cap="none">
                <a:solidFill>
                  <a:srgbClr val="000000"/>
                </a:solidFill>
                <a:latin typeface="Arial"/>
                <a:ea typeface="Arial"/>
                <a:cs typeface="Arial"/>
                <a:sym typeface="Arial"/>
              </a:defRPr>
            </a:lvl4pPr>
            <a:lvl5pPr marL="2286000" marR="0" lvl="4" indent="-228600" algn="l" rtl="0">
              <a:lnSpc>
                <a:spcPct val="100000"/>
              </a:lnSpc>
              <a:spcBef>
                <a:spcPts val="20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L="2743200" marR="0" lvl="5" indent="-228600" algn="l" rtl="0">
              <a:lnSpc>
                <a:spcPct val="100000"/>
              </a:lnSpc>
              <a:spcBef>
                <a:spcPts val="20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L="3200400" marR="0" lvl="6" indent="-228600" algn="l" rtl="0">
              <a:lnSpc>
                <a:spcPct val="100000"/>
              </a:lnSpc>
              <a:spcBef>
                <a:spcPts val="20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L="3657600" marR="0" lvl="7" indent="-228600" algn="l" rtl="0">
              <a:lnSpc>
                <a:spcPct val="100000"/>
              </a:lnSpc>
              <a:spcBef>
                <a:spcPts val="20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L="4114800" marR="0" lvl="8" indent="-228600" algn="l" rtl="0">
              <a:lnSpc>
                <a:spcPct val="100000"/>
              </a:lnSpc>
              <a:spcBef>
                <a:spcPts val="20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pPr marL="0" indent="0" algn="ctr"/>
            <a:r>
              <a:rPr lang="en-US" sz="2400" b="1" dirty="0"/>
              <a:t>Design Checklist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14">
          <a:extLst>
            <a:ext uri="{FF2B5EF4-FFF2-40B4-BE49-F238E27FC236}">
              <a16:creationId xmlns:a16="http://schemas.microsoft.com/office/drawing/2014/main" id="{4B407BFB-29B1-3303-B532-00DDC9942117}"/>
            </a:ext>
          </a:extLst>
        </p:cNvPr>
        <p:cNvGrpSpPr/>
        <p:nvPr/>
      </p:nvGrpSpPr>
      <p:grpSpPr>
        <a:xfrm>
          <a:off x="0" y="0"/>
          <a:ext cx="0" cy="0"/>
          <a:chOff x="0" y="0"/>
          <a:chExt cx="0" cy="0"/>
        </a:xfrm>
      </p:grpSpPr>
      <p:sp>
        <p:nvSpPr>
          <p:cNvPr id="3" name="Google Shape;390;p81">
            <a:extLst>
              <a:ext uri="{FF2B5EF4-FFF2-40B4-BE49-F238E27FC236}">
                <a16:creationId xmlns:a16="http://schemas.microsoft.com/office/drawing/2014/main" id="{BEF695F5-D1F1-0550-9E23-BC8173528DDD}"/>
              </a:ext>
            </a:extLst>
          </p:cNvPr>
          <p:cNvSpPr txBox="1">
            <a:spLocks/>
          </p:cNvSpPr>
          <p:nvPr/>
        </p:nvSpPr>
        <p:spPr>
          <a:xfrm>
            <a:off x="-361950" y="329425"/>
            <a:ext cx="3467100" cy="583500"/>
          </a:xfrm>
          <a:prstGeom prst="rect">
            <a:avLst/>
          </a:prstGeom>
          <a:noFill/>
          <a:ln>
            <a:noFill/>
          </a:ln>
        </p:spPr>
        <p:txBody>
          <a:bodyPr spcFirstLastPara="1" wrap="square" lIns="68575" tIns="34275" rIns="68575" bIns="34275" anchor="b" anchorCtr="0">
            <a:noAutofit/>
          </a:bodyPr>
          <a:lstStyle>
            <a:defPPr marR="0" lvl="0" algn="l" rtl="0">
              <a:lnSpc>
                <a:spcPct val="100000"/>
              </a:lnSpc>
              <a:spcBef>
                <a:spcPts val="0"/>
              </a:spcBef>
              <a:spcAft>
                <a:spcPts val="0"/>
              </a:spcAft>
            </a:defPPr>
            <a:lvl1pPr marL="457200" marR="0" lvl="0" indent="-228600" algn="l" rtl="0">
              <a:lnSpc>
                <a:spcPct val="100000"/>
              </a:lnSpc>
              <a:spcBef>
                <a:spcPts val="300"/>
              </a:spcBef>
              <a:spcAft>
                <a:spcPts val="0"/>
              </a:spcAft>
              <a:buClr>
                <a:srgbClr val="000000"/>
              </a:buClr>
              <a:buSzPts val="1200"/>
              <a:buFont typeface="Verdana"/>
              <a:buNone/>
              <a:defRPr sz="1500" b="0" i="0" u="none" strike="noStrike" cap="none">
                <a:solidFill>
                  <a:srgbClr val="000000"/>
                </a:solidFill>
                <a:latin typeface="Arial"/>
                <a:ea typeface="Arial"/>
                <a:cs typeface="Arial"/>
                <a:sym typeface="Arial"/>
              </a:defRPr>
            </a:lvl1pPr>
            <a:lvl2pPr marL="914400" marR="0" lvl="1" indent="-228600" algn="l" rtl="0">
              <a:lnSpc>
                <a:spcPct val="100000"/>
              </a:lnSpc>
              <a:spcBef>
                <a:spcPts val="300"/>
              </a:spcBef>
              <a:spcAft>
                <a:spcPts val="0"/>
              </a:spcAft>
              <a:buClr>
                <a:srgbClr val="000000"/>
              </a:buClr>
              <a:buSzPts val="1400"/>
              <a:buFont typeface="Verdana"/>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20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3pPr>
            <a:lvl4pPr marL="1828800" marR="0" lvl="3" indent="-228600" algn="l" rtl="0">
              <a:lnSpc>
                <a:spcPct val="100000"/>
              </a:lnSpc>
              <a:spcBef>
                <a:spcPts val="200"/>
              </a:spcBef>
              <a:spcAft>
                <a:spcPts val="0"/>
              </a:spcAft>
              <a:buClr>
                <a:srgbClr val="000000"/>
              </a:buClr>
              <a:buSzPts val="1100"/>
              <a:buFont typeface="Verdana"/>
              <a:buNone/>
              <a:defRPr sz="1100" b="0" i="0" u="none" strike="noStrike" cap="none">
                <a:solidFill>
                  <a:srgbClr val="000000"/>
                </a:solidFill>
                <a:latin typeface="Arial"/>
                <a:ea typeface="Arial"/>
                <a:cs typeface="Arial"/>
                <a:sym typeface="Arial"/>
              </a:defRPr>
            </a:lvl4pPr>
            <a:lvl5pPr marL="2286000" marR="0" lvl="4" indent="-228600" algn="l" rtl="0">
              <a:lnSpc>
                <a:spcPct val="100000"/>
              </a:lnSpc>
              <a:spcBef>
                <a:spcPts val="20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L="2743200" marR="0" lvl="5" indent="-228600" algn="l" rtl="0">
              <a:lnSpc>
                <a:spcPct val="100000"/>
              </a:lnSpc>
              <a:spcBef>
                <a:spcPts val="20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L="3200400" marR="0" lvl="6" indent="-228600" algn="l" rtl="0">
              <a:lnSpc>
                <a:spcPct val="100000"/>
              </a:lnSpc>
              <a:spcBef>
                <a:spcPts val="20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L="3657600" marR="0" lvl="7" indent="-228600" algn="l" rtl="0">
              <a:lnSpc>
                <a:spcPct val="100000"/>
              </a:lnSpc>
              <a:spcBef>
                <a:spcPts val="20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L="4114800" marR="0" lvl="8" indent="-228600" algn="l" rtl="0">
              <a:lnSpc>
                <a:spcPct val="100000"/>
              </a:lnSpc>
              <a:spcBef>
                <a:spcPts val="20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pPr marL="0" indent="0" algn="ctr"/>
            <a:r>
              <a:rPr lang="en-US" sz="2400" b="1" dirty="0"/>
              <a:t>Open Issues</a:t>
            </a:r>
          </a:p>
        </p:txBody>
      </p:sp>
      <p:sp>
        <p:nvSpPr>
          <p:cNvPr id="8" name="TextBox 7">
            <a:extLst>
              <a:ext uri="{FF2B5EF4-FFF2-40B4-BE49-F238E27FC236}">
                <a16:creationId xmlns:a16="http://schemas.microsoft.com/office/drawing/2014/main" id="{9065F078-6452-6A82-2DD2-ABB75D854E7D}"/>
              </a:ext>
            </a:extLst>
          </p:cNvPr>
          <p:cNvSpPr txBox="1"/>
          <p:nvPr/>
        </p:nvSpPr>
        <p:spPr>
          <a:xfrm>
            <a:off x="282213" y="1283137"/>
            <a:ext cx="8579574" cy="2222403"/>
          </a:xfrm>
          <a:prstGeom prst="rect">
            <a:avLst/>
          </a:prstGeom>
          <a:noFill/>
        </p:spPr>
        <p:txBody>
          <a:bodyPr wrap="square">
            <a:spAutoFit/>
          </a:bodyPr>
          <a:lstStyle/>
          <a:p>
            <a:pPr marL="285750" indent="-285750">
              <a:lnSpc>
                <a:spcPct val="200000"/>
              </a:lnSpc>
              <a:buFont typeface="Wingdings" panose="05000000000000000000" pitchFamily="2" charset="2"/>
              <a:buChar char="Ø"/>
            </a:pPr>
            <a:r>
              <a:rPr lang="en-US" altLang="zh-CN" sz="1800" dirty="0"/>
              <a:t>SRAM macro integration in GF180 flow still needs to be confirmed.</a:t>
            </a:r>
          </a:p>
          <a:p>
            <a:pPr marL="285750" indent="-285750">
              <a:lnSpc>
                <a:spcPct val="200000"/>
              </a:lnSpc>
              <a:buFont typeface="Wingdings" panose="05000000000000000000" pitchFamily="2" charset="2"/>
              <a:buChar char="Ø"/>
            </a:pPr>
            <a:r>
              <a:rPr lang="en-US" altLang="zh-CN" sz="1800" dirty="0"/>
              <a:t>Final area after synthesis and placement is not yet fixed.</a:t>
            </a:r>
          </a:p>
          <a:p>
            <a:pPr marL="285750" indent="-285750">
              <a:lnSpc>
                <a:spcPct val="200000"/>
              </a:lnSpc>
              <a:buFont typeface="Wingdings" panose="05000000000000000000" pitchFamily="2" charset="2"/>
              <a:buChar char="Ø"/>
            </a:pPr>
            <a:r>
              <a:rPr lang="en-US" altLang="zh-CN" sz="1800" dirty="0"/>
              <a:t>Activation LUT accuracy is approximate and needs further optimization.</a:t>
            </a:r>
          </a:p>
          <a:p>
            <a:pPr marL="285750" indent="-285750">
              <a:lnSpc>
                <a:spcPct val="200000"/>
              </a:lnSpc>
              <a:buFont typeface="Wingdings" panose="05000000000000000000" pitchFamily="2" charset="2"/>
              <a:buChar char="Ø"/>
            </a:pPr>
            <a:r>
              <a:rPr lang="en-US" altLang="zh-CN" sz="1800" dirty="0"/>
              <a:t>Timing impact of sequential FSM and MAC </a:t>
            </a:r>
            <a:r>
              <a:rPr lang="en-US" altLang="zh-CN" sz="1800" dirty="0" err="1"/>
              <a:t>datapath</a:t>
            </a:r>
            <a:r>
              <a:rPr lang="en-US" altLang="zh-CN" sz="1800" dirty="0"/>
              <a:t> needs synthesis result.</a:t>
            </a:r>
          </a:p>
        </p:txBody>
      </p:sp>
    </p:spTree>
    <p:extLst>
      <p:ext uri="{BB962C8B-B14F-4D97-AF65-F5344CB8AC3E}">
        <p14:creationId xmlns:p14="http://schemas.microsoft.com/office/powerpoint/2010/main" val="32502173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14">
          <a:extLst>
            <a:ext uri="{FF2B5EF4-FFF2-40B4-BE49-F238E27FC236}">
              <a16:creationId xmlns:a16="http://schemas.microsoft.com/office/drawing/2014/main" id="{45337BDC-BEBC-2FD8-2D4C-378FCD03E6FC}"/>
            </a:ext>
          </a:extLst>
        </p:cNvPr>
        <p:cNvGrpSpPr/>
        <p:nvPr/>
      </p:nvGrpSpPr>
      <p:grpSpPr>
        <a:xfrm>
          <a:off x="0" y="0"/>
          <a:ext cx="0" cy="0"/>
          <a:chOff x="0" y="0"/>
          <a:chExt cx="0" cy="0"/>
        </a:xfrm>
      </p:grpSpPr>
      <p:sp>
        <p:nvSpPr>
          <p:cNvPr id="9" name="Google Shape;390;p81">
            <a:extLst>
              <a:ext uri="{FF2B5EF4-FFF2-40B4-BE49-F238E27FC236}">
                <a16:creationId xmlns:a16="http://schemas.microsoft.com/office/drawing/2014/main" id="{E8BDB465-4B99-AFE5-EC1F-5824DFF97AFB}"/>
              </a:ext>
            </a:extLst>
          </p:cNvPr>
          <p:cNvSpPr txBox="1">
            <a:spLocks/>
          </p:cNvSpPr>
          <p:nvPr/>
        </p:nvSpPr>
        <p:spPr>
          <a:xfrm>
            <a:off x="0" y="235896"/>
            <a:ext cx="3952875" cy="583500"/>
          </a:xfrm>
          <a:prstGeom prst="rect">
            <a:avLst/>
          </a:prstGeom>
          <a:noFill/>
          <a:ln>
            <a:noFill/>
          </a:ln>
        </p:spPr>
        <p:txBody>
          <a:bodyPr spcFirstLastPara="1" wrap="square" lIns="68575" tIns="34275" rIns="68575" bIns="34275" anchor="b" anchorCtr="0">
            <a:noAutofit/>
          </a:bodyPr>
          <a:lstStyle>
            <a:defPPr marR="0" lvl="0" algn="l" rtl="0">
              <a:lnSpc>
                <a:spcPct val="100000"/>
              </a:lnSpc>
              <a:spcBef>
                <a:spcPts val="0"/>
              </a:spcBef>
              <a:spcAft>
                <a:spcPts val="0"/>
              </a:spcAft>
            </a:defPPr>
            <a:lvl1pPr marL="457200" marR="0" lvl="0" indent="-228600" algn="l" rtl="0">
              <a:lnSpc>
                <a:spcPct val="100000"/>
              </a:lnSpc>
              <a:spcBef>
                <a:spcPts val="300"/>
              </a:spcBef>
              <a:spcAft>
                <a:spcPts val="0"/>
              </a:spcAft>
              <a:buClr>
                <a:srgbClr val="000000"/>
              </a:buClr>
              <a:buSzPts val="1200"/>
              <a:buFont typeface="Verdana"/>
              <a:buNone/>
              <a:defRPr sz="1500" b="0" i="0" u="none" strike="noStrike" cap="none">
                <a:solidFill>
                  <a:srgbClr val="000000"/>
                </a:solidFill>
                <a:latin typeface="Arial"/>
                <a:ea typeface="Arial"/>
                <a:cs typeface="Arial"/>
                <a:sym typeface="Arial"/>
              </a:defRPr>
            </a:lvl1pPr>
            <a:lvl2pPr marL="914400" marR="0" lvl="1" indent="-228600" algn="l" rtl="0">
              <a:lnSpc>
                <a:spcPct val="100000"/>
              </a:lnSpc>
              <a:spcBef>
                <a:spcPts val="300"/>
              </a:spcBef>
              <a:spcAft>
                <a:spcPts val="0"/>
              </a:spcAft>
              <a:buClr>
                <a:srgbClr val="000000"/>
              </a:buClr>
              <a:buSzPts val="1400"/>
              <a:buFont typeface="Verdana"/>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20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3pPr>
            <a:lvl4pPr marL="1828800" marR="0" lvl="3" indent="-228600" algn="l" rtl="0">
              <a:lnSpc>
                <a:spcPct val="100000"/>
              </a:lnSpc>
              <a:spcBef>
                <a:spcPts val="200"/>
              </a:spcBef>
              <a:spcAft>
                <a:spcPts val="0"/>
              </a:spcAft>
              <a:buClr>
                <a:srgbClr val="000000"/>
              </a:buClr>
              <a:buSzPts val="1100"/>
              <a:buFont typeface="Verdana"/>
              <a:buNone/>
              <a:defRPr sz="1100" b="0" i="0" u="none" strike="noStrike" cap="none">
                <a:solidFill>
                  <a:srgbClr val="000000"/>
                </a:solidFill>
                <a:latin typeface="Arial"/>
                <a:ea typeface="Arial"/>
                <a:cs typeface="Arial"/>
                <a:sym typeface="Arial"/>
              </a:defRPr>
            </a:lvl4pPr>
            <a:lvl5pPr marL="2286000" marR="0" lvl="4" indent="-228600" algn="l" rtl="0">
              <a:lnSpc>
                <a:spcPct val="100000"/>
              </a:lnSpc>
              <a:spcBef>
                <a:spcPts val="20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L="2743200" marR="0" lvl="5" indent="-228600" algn="l" rtl="0">
              <a:lnSpc>
                <a:spcPct val="100000"/>
              </a:lnSpc>
              <a:spcBef>
                <a:spcPts val="20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L="3200400" marR="0" lvl="6" indent="-228600" algn="l" rtl="0">
              <a:lnSpc>
                <a:spcPct val="100000"/>
              </a:lnSpc>
              <a:spcBef>
                <a:spcPts val="20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L="3657600" marR="0" lvl="7" indent="-228600" algn="l" rtl="0">
              <a:lnSpc>
                <a:spcPct val="100000"/>
              </a:lnSpc>
              <a:spcBef>
                <a:spcPts val="20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L="4114800" marR="0" lvl="8" indent="-228600" algn="l" rtl="0">
              <a:lnSpc>
                <a:spcPct val="100000"/>
              </a:lnSpc>
              <a:spcBef>
                <a:spcPts val="20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pPr marL="0" indent="0" algn="ctr"/>
            <a:r>
              <a:rPr lang="en-US" sz="2400" b="1" dirty="0"/>
              <a:t>Questions for Reviewers</a:t>
            </a:r>
          </a:p>
        </p:txBody>
      </p:sp>
      <p:sp>
        <p:nvSpPr>
          <p:cNvPr id="11" name="TextBox 10">
            <a:extLst>
              <a:ext uri="{FF2B5EF4-FFF2-40B4-BE49-F238E27FC236}">
                <a16:creationId xmlns:a16="http://schemas.microsoft.com/office/drawing/2014/main" id="{B943DC76-BEEC-9A96-A02C-C63306A2EF60}"/>
              </a:ext>
            </a:extLst>
          </p:cNvPr>
          <p:cNvSpPr txBox="1"/>
          <p:nvPr/>
        </p:nvSpPr>
        <p:spPr>
          <a:xfrm>
            <a:off x="135802" y="925145"/>
            <a:ext cx="9144000" cy="3785652"/>
          </a:xfrm>
          <a:prstGeom prst="rect">
            <a:avLst/>
          </a:prstGeom>
          <a:noFill/>
        </p:spPr>
        <p:txBody>
          <a:bodyPr wrap="square">
            <a:spAutoFit/>
          </a:bodyPr>
          <a:lstStyle/>
          <a:p>
            <a:pPr marL="285750" indent="-285750">
              <a:buFont typeface="Wingdings" panose="05000000000000000000" pitchFamily="2" charset="2"/>
              <a:buChar char="l"/>
            </a:pPr>
            <a:r>
              <a:rPr lang="zh-CN" altLang="zh-CN" sz="1600" b="1" dirty="0"/>
              <a:t>1. SRAM-Based Architecture</a:t>
            </a:r>
            <a:br>
              <a:rPr lang="zh-CN" altLang="zh-CN" sz="1600" dirty="0"/>
            </a:br>
            <a:r>
              <a:rPr lang="zh-CN" altLang="zh-CN" sz="1600" dirty="0"/>
              <a:t>Is the current SRAM-based architecture reasonable for the GF180 area constraint?</a:t>
            </a:r>
            <a:br>
              <a:rPr lang="zh-CN" altLang="zh-CN" sz="1600" dirty="0"/>
            </a:br>
            <a:r>
              <a:rPr lang="zh-CN" altLang="zh-CN" sz="1600" dirty="0"/>
              <a:t>The design uses one small 128×8 SRAM as unified storage for weights, biases, input vectors, states, and output results. Are there concerns about integrating the GF180 SRAM macro through </a:t>
            </a:r>
            <a:r>
              <a:rPr lang="zh-CN" altLang="zh-CN" dirty="0"/>
              <a:t>sram_wrap</a:t>
            </a:r>
            <a:r>
              <a:rPr lang="zh-CN" altLang="zh-CN" sz="1600" dirty="0"/>
              <a:t>?</a:t>
            </a:r>
            <a:endParaRPr lang="en-US" altLang="zh-CN" sz="1600" dirty="0"/>
          </a:p>
          <a:p>
            <a:pPr marL="285750" indent="-285750">
              <a:buFont typeface="Wingdings" panose="05000000000000000000" pitchFamily="2" charset="2"/>
              <a:buChar char="l"/>
            </a:pPr>
            <a:endParaRPr lang="en-US" altLang="zh-CN" sz="1600" dirty="0"/>
          </a:p>
          <a:p>
            <a:pPr marL="285750" indent="-285750">
              <a:buFont typeface="Wingdings" panose="05000000000000000000" pitchFamily="2" charset="2"/>
              <a:buChar char="l"/>
            </a:pPr>
            <a:r>
              <a:rPr lang="zh-CN" altLang="zh-CN" sz="1600" b="1" dirty="0"/>
              <a:t>2. Activation Approximation</a:t>
            </a:r>
            <a:br>
              <a:rPr lang="zh-CN" altLang="zh-CN" sz="1600" dirty="0"/>
            </a:br>
            <a:r>
              <a:rPr lang="zh-CN" altLang="zh-CN" sz="1600" dirty="0"/>
              <a:t>The current RTL uses 32-entry LUTs to approximate sigmoid and tanh. In simulation, the mapped values are concentrated around the middle LUT entries, and the approximation accuracy is not very high.</a:t>
            </a:r>
            <a:br>
              <a:rPr lang="zh-CN" altLang="zh-CN" sz="1600" dirty="0"/>
            </a:br>
            <a:r>
              <a:rPr lang="zh-CN" altLang="zh-CN" sz="1600" dirty="0"/>
              <a:t>Do you have suggestions for improving the activation implementation while keeping the area small? For example, should we use a larger LUT, non-uniform LUT indexing, piecewise-linear approximation, hard-sigmoid / hard-tanh, or adjust the quantization scaling?</a:t>
            </a:r>
            <a:endParaRPr lang="en-US" altLang="zh-CN" sz="1600" dirty="0"/>
          </a:p>
          <a:p>
            <a:pPr marL="285750" indent="-285750">
              <a:buFont typeface="Wingdings" panose="05000000000000000000" pitchFamily="2" charset="2"/>
              <a:buChar char="l"/>
            </a:pPr>
            <a:endParaRPr lang="en-US" altLang="zh-CN" sz="1600" dirty="0"/>
          </a:p>
          <a:p>
            <a:pPr marL="285750" indent="-285750">
              <a:buFont typeface="Wingdings" panose="05000000000000000000" pitchFamily="2" charset="2"/>
              <a:buChar char="l"/>
            </a:pPr>
            <a:r>
              <a:rPr lang="en-US" altLang="zh-CN" sz="1600" b="1" dirty="0"/>
              <a:t>3. Are there any required target clock frequency or timing constraints for the project?</a:t>
            </a:r>
          </a:p>
        </p:txBody>
      </p:sp>
    </p:spTree>
    <p:extLst>
      <p:ext uri="{BB962C8B-B14F-4D97-AF65-F5344CB8AC3E}">
        <p14:creationId xmlns:p14="http://schemas.microsoft.com/office/powerpoint/2010/main" val="5064789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14">
          <a:extLst>
            <a:ext uri="{FF2B5EF4-FFF2-40B4-BE49-F238E27FC236}">
              <a16:creationId xmlns:a16="http://schemas.microsoft.com/office/drawing/2014/main" id="{5CCC1FE5-4698-86C3-5299-64DC19E09B88}"/>
            </a:ext>
          </a:extLst>
        </p:cNvPr>
        <p:cNvGrpSpPr/>
        <p:nvPr/>
      </p:nvGrpSpPr>
      <p:grpSpPr>
        <a:xfrm>
          <a:off x="0" y="0"/>
          <a:ext cx="0" cy="0"/>
          <a:chOff x="0" y="0"/>
          <a:chExt cx="0" cy="0"/>
        </a:xfrm>
      </p:grpSpPr>
      <p:sp>
        <p:nvSpPr>
          <p:cNvPr id="9" name="Google Shape;390;p81">
            <a:extLst>
              <a:ext uri="{FF2B5EF4-FFF2-40B4-BE49-F238E27FC236}">
                <a16:creationId xmlns:a16="http://schemas.microsoft.com/office/drawing/2014/main" id="{9F17F91C-BE9D-5795-C897-6F7BCA624F1A}"/>
              </a:ext>
            </a:extLst>
          </p:cNvPr>
          <p:cNvSpPr txBox="1">
            <a:spLocks/>
          </p:cNvSpPr>
          <p:nvPr/>
        </p:nvSpPr>
        <p:spPr>
          <a:xfrm>
            <a:off x="0" y="235896"/>
            <a:ext cx="3952875" cy="583500"/>
          </a:xfrm>
          <a:prstGeom prst="rect">
            <a:avLst/>
          </a:prstGeom>
          <a:noFill/>
          <a:ln>
            <a:noFill/>
          </a:ln>
        </p:spPr>
        <p:txBody>
          <a:bodyPr spcFirstLastPara="1" wrap="square" lIns="68575" tIns="34275" rIns="68575" bIns="34275" anchor="b" anchorCtr="0">
            <a:noAutofit/>
          </a:bodyPr>
          <a:lstStyle>
            <a:defPPr marR="0" lvl="0" algn="l" rtl="0">
              <a:lnSpc>
                <a:spcPct val="100000"/>
              </a:lnSpc>
              <a:spcBef>
                <a:spcPts val="0"/>
              </a:spcBef>
              <a:spcAft>
                <a:spcPts val="0"/>
              </a:spcAft>
            </a:defPPr>
            <a:lvl1pPr marL="457200" marR="0" lvl="0" indent="-228600" algn="l" rtl="0">
              <a:lnSpc>
                <a:spcPct val="100000"/>
              </a:lnSpc>
              <a:spcBef>
                <a:spcPts val="300"/>
              </a:spcBef>
              <a:spcAft>
                <a:spcPts val="0"/>
              </a:spcAft>
              <a:buClr>
                <a:srgbClr val="000000"/>
              </a:buClr>
              <a:buSzPts val="1200"/>
              <a:buFont typeface="Verdana"/>
              <a:buNone/>
              <a:defRPr sz="1500" b="0" i="0" u="none" strike="noStrike" cap="none">
                <a:solidFill>
                  <a:srgbClr val="000000"/>
                </a:solidFill>
                <a:latin typeface="Arial"/>
                <a:ea typeface="Arial"/>
                <a:cs typeface="Arial"/>
                <a:sym typeface="Arial"/>
              </a:defRPr>
            </a:lvl1pPr>
            <a:lvl2pPr marL="914400" marR="0" lvl="1" indent="-228600" algn="l" rtl="0">
              <a:lnSpc>
                <a:spcPct val="100000"/>
              </a:lnSpc>
              <a:spcBef>
                <a:spcPts val="300"/>
              </a:spcBef>
              <a:spcAft>
                <a:spcPts val="0"/>
              </a:spcAft>
              <a:buClr>
                <a:srgbClr val="000000"/>
              </a:buClr>
              <a:buSzPts val="1400"/>
              <a:buFont typeface="Verdana"/>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200"/>
              </a:spcBef>
              <a:spcAft>
                <a:spcPts val="0"/>
              </a:spcAft>
              <a:buClr>
                <a:srgbClr val="000000"/>
              </a:buClr>
              <a:buSzPts val="1200"/>
              <a:buFont typeface="Arial"/>
              <a:buNone/>
              <a:defRPr sz="1200" b="0" i="0" u="none" strike="noStrike" cap="none">
                <a:solidFill>
                  <a:srgbClr val="000000"/>
                </a:solidFill>
                <a:latin typeface="Arial"/>
                <a:ea typeface="Arial"/>
                <a:cs typeface="Arial"/>
                <a:sym typeface="Arial"/>
              </a:defRPr>
            </a:lvl3pPr>
            <a:lvl4pPr marL="1828800" marR="0" lvl="3" indent="-228600" algn="l" rtl="0">
              <a:lnSpc>
                <a:spcPct val="100000"/>
              </a:lnSpc>
              <a:spcBef>
                <a:spcPts val="200"/>
              </a:spcBef>
              <a:spcAft>
                <a:spcPts val="0"/>
              </a:spcAft>
              <a:buClr>
                <a:srgbClr val="000000"/>
              </a:buClr>
              <a:buSzPts val="1100"/>
              <a:buFont typeface="Verdana"/>
              <a:buNone/>
              <a:defRPr sz="1100" b="0" i="0" u="none" strike="noStrike" cap="none">
                <a:solidFill>
                  <a:srgbClr val="000000"/>
                </a:solidFill>
                <a:latin typeface="Arial"/>
                <a:ea typeface="Arial"/>
                <a:cs typeface="Arial"/>
                <a:sym typeface="Arial"/>
              </a:defRPr>
            </a:lvl4pPr>
            <a:lvl5pPr marL="2286000" marR="0" lvl="4" indent="-228600" algn="l" rtl="0">
              <a:lnSpc>
                <a:spcPct val="100000"/>
              </a:lnSpc>
              <a:spcBef>
                <a:spcPts val="20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L="2743200" marR="0" lvl="5" indent="-228600" algn="l" rtl="0">
              <a:lnSpc>
                <a:spcPct val="100000"/>
              </a:lnSpc>
              <a:spcBef>
                <a:spcPts val="20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L="3200400" marR="0" lvl="6" indent="-228600" algn="l" rtl="0">
              <a:lnSpc>
                <a:spcPct val="100000"/>
              </a:lnSpc>
              <a:spcBef>
                <a:spcPts val="20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L="3657600" marR="0" lvl="7" indent="-228600" algn="l" rtl="0">
              <a:lnSpc>
                <a:spcPct val="100000"/>
              </a:lnSpc>
              <a:spcBef>
                <a:spcPts val="20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L="4114800" marR="0" lvl="8" indent="-228600" algn="l" rtl="0">
              <a:lnSpc>
                <a:spcPct val="100000"/>
              </a:lnSpc>
              <a:spcBef>
                <a:spcPts val="20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pPr marL="0" indent="0" algn="ctr"/>
            <a:r>
              <a:rPr lang="en-US" sz="2400" b="1" dirty="0"/>
              <a:t>Questions for Reviewers</a:t>
            </a:r>
          </a:p>
        </p:txBody>
      </p:sp>
      <p:sp>
        <p:nvSpPr>
          <p:cNvPr id="11" name="TextBox 10">
            <a:extLst>
              <a:ext uri="{FF2B5EF4-FFF2-40B4-BE49-F238E27FC236}">
                <a16:creationId xmlns:a16="http://schemas.microsoft.com/office/drawing/2014/main" id="{C13F1B46-B492-6787-FDF1-9FFAC62B72EE}"/>
              </a:ext>
            </a:extLst>
          </p:cNvPr>
          <p:cNvSpPr txBox="1"/>
          <p:nvPr/>
        </p:nvSpPr>
        <p:spPr>
          <a:xfrm>
            <a:off x="101389" y="819396"/>
            <a:ext cx="9144000" cy="4031873"/>
          </a:xfrm>
          <a:prstGeom prst="rect">
            <a:avLst/>
          </a:prstGeom>
          <a:noFill/>
        </p:spPr>
        <p:txBody>
          <a:bodyPr wrap="square">
            <a:spAutoFit/>
          </a:bodyPr>
          <a:lstStyle/>
          <a:p>
            <a:pPr marL="285750" indent="-285750">
              <a:buFont typeface="Wingdings" panose="05000000000000000000" pitchFamily="2" charset="2"/>
              <a:buChar char="l"/>
            </a:pPr>
            <a:r>
              <a:rPr lang="en-US" altLang="zh-CN" sz="1600" b="1" dirty="0"/>
              <a:t>4</a:t>
            </a:r>
            <a:r>
              <a:rPr lang="zh-CN" altLang="zh-CN" sz="1600" b="1" dirty="0"/>
              <a:t>. LSTM Functionality vs. MAC-Only Fallback</a:t>
            </a:r>
            <a:br>
              <a:rPr lang="zh-CN" altLang="zh-CN" sz="1600" dirty="0"/>
            </a:br>
            <a:r>
              <a:rPr lang="zh-CN" altLang="zh-CN" sz="1600" dirty="0"/>
              <a:t>Since the LSTM update requires sigmoid and tanh for the gate and state computations, removing activation logic would reduce the design to mostly MAC operations. For this schematic review stage, is the current approximate activation approach acceptable, or should we simplify the project to verified gate/MAC computation first?</a:t>
            </a:r>
            <a:endParaRPr lang="en-US" altLang="zh-CN" sz="1600" dirty="0"/>
          </a:p>
          <a:p>
            <a:pPr marL="285750" indent="-285750">
              <a:buFont typeface="Wingdings" panose="05000000000000000000" pitchFamily="2" charset="2"/>
              <a:buChar char="l"/>
            </a:pPr>
            <a:endParaRPr lang="zh-CN" altLang="zh-CN" sz="1600" dirty="0"/>
          </a:p>
          <a:p>
            <a:pPr marL="285750" indent="-285750">
              <a:buFont typeface="Wingdings" panose="05000000000000000000" pitchFamily="2" charset="2"/>
              <a:buChar char="l"/>
            </a:pPr>
            <a:r>
              <a:rPr lang="en-US" altLang="zh-CN" sz="1600" b="1" dirty="0"/>
              <a:t>5</a:t>
            </a:r>
            <a:r>
              <a:rPr lang="zh-CN" altLang="zh-CN" sz="1600" b="1" dirty="0"/>
              <a:t>. Pin-Limited Interface</a:t>
            </a:r>
            <a:br>
              <a:rPr lang="zh-CN" altLang="zh-CN" sz="1600" dirty="0"/>
            </a:br>
            <a:r>
              <a:rPr lang="zh-CN" altLang="zh-CN" sz="1600" dirty="0"/>
              <a:t>Because of the pin-coun</a:t>
            </a:r>
            <a:r>
              <a:rPr lang="en-US" altLang="zh-CN" sz="1600" dirty="0"/>
              <a:t>t</a:t>
            </a:r>
            <a:r>
              <a:rPr lang="zh-CN" altLang="zh-CN" sz="1600" dirty="0"/>
              <a:t>, we plan to merge host write data and read data into an 8-bit bidirectional </a:t>
            </a:r>
            <a:r>
              <a:rPr lang="zh-CN" altLang="zh-CN" dirty="0"/>
              <a:t>host_data[7:0]</a:t>
            </a:r>
            <a:r>
              <a:rPr lang="zh-CN" altLang="zh-CN" sz="1600" dirty="0"/>
              <a:t> bus at the chip boundary.</a:t>
            </a:r>
            <a:r>
              <a:rPr lang="en-US" altLang="zh-CN" sz="1600" dirty="0"/>
              <a:t> </a:t>
            </a:r>
            <a:r>
              <a:rPr lang="zh-CN" altLang="zh-CN" sz="1600" dirty="0"/>
              <a:t>Is this acceptable for the GF180 pad/interface setup?</a:t>
            </a:r>
            <a:endParaRPr lang="en-US" altLang="zh-CN" sz="1600" dirty="0"/>
          </a:p>
          <a:p>
            <a:pPr marL="285750" indent="-285750">
              <a:buFont typeface="Wingdings" panose="05000000000000000000" pitchFamily="2" charset="2"/>
              <a:buChar char="l"/>
            </a:pPr>
            <a:endParaRPr lang="en-US" altLang="zh-CN" sz="1600" dirty="0"/>
          </a:p>
          <a:p>
            <a:pPr marL="285750" indent="-285750">
              <a:buFont typeface="Wingdings" panose="05000000000000000000" pitchFamily="2" charset="2"/>
              <a:buChar char="l"/>
            </a:pPr>
            <a:r>
              <a:rPr lang="en-US" altLang="zh-CN" sz="1600" b="1" dirty="0"/>
              <a:t>6</a:t>
            </a:r>
            <a:r>
              <a:rPr lang="zh-CN" altLang="zh-CN" sz="1600" b="1" dirty="0"/>
              <a:t>. RTL-to-GDS Flow Strategy</a:t>
            </a:r>
            <a:br>
              <a:rPr lang="zh-CN" altLang="zh-CN" sz="1600" dirty="0"/>
            </a:br>
            <a:r>
              <a:rPr lang="zh-CN" altLang="zh-CN" sz="1600" dirty="0"/>
              <a:t>The RTL is split into multiple modules, including </a:t>
            </a:r>
            <a:r>
              <a:rPr lang="zh-CN" altLang="zh-CN" dirty="0"/>
              <a:t>lstm_top</a:t>
            </a:r>
            <a:r>
              <a:rPr lang="zh-CN" altLang="zh-CN" sz="1600" dirty="0"/>
              <a:t>, </a:t>
            </a:r>
            <a:r>
              <a:rPr lang="zh-CN" altLang="zh-CN" dirty="0"/>
              <a:t>lstm_core</a:t>
            </a:r>
            <a:r>
              <a:rPr lang="zh-CN" altLang="zh-CN" sz="1600" dirty="0"/>
              <a:t>, </a:t>
            </a:r>
            <a:r>
              <a:rPr lang="zh-CN" altLang="zh-CN" dirty="0"/>
              <a:t>sram_wrap</a:t>
            </a:r>
            <a:r>
              <a:rPr lang="zh-CN" altLang="zh-CN" sz="1600" dirty="0"/>
              <a:t>, </a:t>
            </a:r>
            <a:r>
              <a:rPr lang="zh-CN" altLang="zh-CN" dirty="0"/>
              <a:t>gate_regs</a:t>
            </a:r>
            <a:r>
              <a:rPr lang="zh-CN" altLang="zh-CN" sz="1600" dirty="0"/>
              <a:t>, </a:t>
            </a:r>
            <a:r>
              <a:rPr lang="zh-CN" altLang="zh-CN" dirty="0"/>
              <a:t>mul8</a:t>
            </a:r>
            <a:r>
              <a:rPr lang="zh-CN" altLang="zh-CN" sz="1600" dirty="0"/>
              <a:t>, </a:t>
            </a:r>
            <a:r>
              <a:rPr lang="zh-CN" altLang="zh-CN" dirty="0"/>
              <a:t>act_lut</a:t>
            </a:r>
            <a:r>
              <a:rPr lang="zh-CN" altLang="zh-CN" sz="1600" dirty="0"/>
              <a:t>, and </a:t>
            </a:r>
            <a:r>
              <a:rPr lang="zh-CN" altLang="zh-CN" dirty="0"/>
              <a:t>tanh8</a:t>
            </a:r>
            <a:r>
              <a:rPr lang="zh-CN" altLang="zh-CN" sz="1600" dirty="0"/>
              <a:t>.</a:t>
            </a:r>
            <a:br>
              <a:rPr lang="zh-CN" altLang="zh-CN" sz="1600" dirty="0"/>
            </a:br>
            <a:r>
              <a:rPr lang="zh-CN" altLang="zh-CN" sz="1600" dirty="0"/>
              <a:t>Would you recommend running the RTL-to-GDS flow directly with the full design first, or hardening some blocks separately as macros and then integrating them at the top level?</a:t>
            </a:r>
          </a:p>
        </p:txBody>
      </p:sp>
    </p:spTree>
    <p:extLst>
      <p:ext uri="{BB962C8B-B14F-4D97-AF65-F5344CB8AC3E}">
        <p14:creationId xmlns:p14="http://schemas.microsoft.com/office/powerpoint/2010/main" val="1209202682"/>
      </p:ext>
    </p:extLst>
  </p:cSld>
  <p:clrMapOvr>
    <a:masterClrMapping/>
  </p:clrMapOvr>
</p:sld>
</file>

<file path=ppt/theme/theme1.xml><?xml version="1.0" encoding="utf-8"?>
<a:theme xmlns:a="http://schemas.openxmlformats.org/drawingml/2006/main" name="Content Slides">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TotalTime>
  <Words>8685</Words>
  <Application>Microsoft Office PowerPoint</Application>
  <PresentationFormat>On-screen Show (16:9)</PresentationFormat>
  <Paragraphs>234</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Tahoma</vt:lpstr>
      <vt:lpstr>Verdana</vt:lpstr>
      <vt:lpstr>Wingdings</vt:lpstr>
      <vt:lpstr>Content Slides</vt:lpstr>
      <vt:lpstr>PowerPoint Presentation</vt:lpstr>
      <vt:lpstr>PowerPoint Presentation</vt:lpstr>
      <vt:lpstr>PowerPoint Presentation</vt:lpstr>
      <vt:lpstr>PowerPoint Presentation</vt:lpstr>
      <vt:lpstr>PowerPoint Presentation</vt:lpstr>
      <vt:lpstr>PowerPoint Presentation</vt:lpstr>
      <vt:lpstr>Verification Status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Qinyan Zeng</dc:creator>
  <cp:lastModifiedBy>Qinyan Zeng</cp:lastModifiedBy>
  <cp:revision>7</cp:revision>
  <dcterms:modified xsi:type="dcterms:W3CDTF">2026-06-30T03:07:43Z</dcterms:modified>
</cp:coreProperties>
</file>